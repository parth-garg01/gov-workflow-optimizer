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DA381740-063A-41A4-836D-85D14980EEF0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EF9DF8-704A-44AE-8850-307DDACC9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Autofit/>
          </a:bodyPr>
          <a:lstStyle>
            <a:lvl1pPr algn="l"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C72E09-06F3-48B9-9B95-DE15EC980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CD474-E5E1-4D01-97F6-0C9FC0933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2/8/2026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6BBC7-EB9B-4B36-88E9-DBF65D270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786C7-DD8D-492F-9A9A-A7B3EBE27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175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 descr="Tag=AccentColor&#10;Flavor=Light&#10;Target=FillAndLine">
            <a:extLst>
              <a:ext uri="{FF2B5EF4-FFF2-40B4-BE49-F238E27FC236}">
                <a16:creationId xmlns:a16="http://schemas.microsoft.com/office/drawing/2014/main" id="{EBDD1931-9E86-4402-9A68-33A2D9EFB198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sX0" fmla="*/ 0 w 10515600"/>
              <a:gd name="csY0" fmla="*/ 0 h 27432"/>
              <a:gd name="csX1" fmla="*/ 446913 w 10515600"/>
              <a:gd name="csY1" fmla="*/ 0 h 27432"/>
              <a:gd name="csX2" fmla="*/ 1104138 w 10515600"/>
              <a:gd name="csY2" fmla="*/ 0 h 27432"/>
              <a:gd name="csX3" fmla="*/ 1866519 w 10515600"/>
              <a:gd name="csY3" fmla="*/ 0 h 27432"/>
              <a:gd name="csX4" fmla="*/ 2208276 w 10515600"/>
              <a:gd name="csY4" fmla="*/ 0 h 27432"/>
              <a:gd name="csX5" fmla="*/ 2550033 w 10515600"/>
              <a:gd name="csY5" fmla="*/ 0 h 27432"/>
              <a:gd name="csX6" fmla="*/ 3417570 w 10515600"/>
              <a:gd name="csY6" fmla="*/ 0 h 27432"/>
              <a:gd name="csX7" fmla="*/ 4074795 w 10515600"/>
              <a:gd name="csY7" fmla="*/ 0 h 27432"/>
              <a:gd name="csX8" fmla="*/ 4416552 w 10515600"/>
              <a:gd name="csY8" fmla="*/ 0 h 27432"/>
              <a:gd name="csX9" fmla="*/ 5073777 w 10515600"/>
              <a:gd name="csY9" fmla="*/ 0 h 27432"/>
              <a:gd name="csX10" fmla="*/ 5941314 w 10515600"/>
              <a:gd name="csY10" fmla="*/ 0 h 27432"/>
              <a:gd name="csX11" fmla="*/ 6493383 w 10515600"/>
              <a:gd name="csY11" fmla="*/ 0 h 27432"/>
              <a:gd name="csX12" fmla="*/ 7045452 w 10515600"/>
              <a:gd name="csY12" fmla="*/ 0 h 27432"/>
              <a:gd name="csX13" fmla="*/ 7702677 w 10515600"/>
              <a:gd name="csY13" fmla="*/ 0 h 27432"/>
              <a:gd name="csX14" fmla="*/ 8465058 w 10515600"/>
              <a:gd name="csY14" fmla="*/ 0 h 27432"/>
              <a:gd name="csX15" fmla="*/ 9227439 w 10515600"/>
              <a:gd name="csY15" fmla="*/ 0 h 27432"/>
              <a:gd name="csX16" fmla="*/ 10515600 w 10515600"/>
              <a:gd name="csY16" fmla="*/ 0 h 27432"/>
              <a:gd name="csX17" fmla="*/ 10515600 w 10515600"/>
              <a:gd name="csY17" fmla="*/ 27432 h 27432"/>
              <a:gd name="csX18" fmla="*/ 10068687 w 10515600"/>
              <a:gd name="csY18" fmla="*/ 27432 h 27432"/>
              <a:gd name="csX19" fmla="*/ 9201150 w 10515600"/>
              <a:gd name="csY19" fmla="*/ 27432 h 27432"/>
              <a:gd name="csX20" fmla="*/ 8543925 w 10515600"/>
              <a:gd name="csY20" fmla="*/ 27432 h 27432"/>
              <a:gd name="csX21" fmla="*/ 8202168 w 10515600"/>
              <a:gd name="csY21" fmla="*/ 27432 h 27432"/>
              <a:gd name="csX22" fmla="*/ 7544943 w 10515600"/>
              <a:gd name="csY22" fmla="*/ 27432 h 27432"/>
              <a:gd name="csX23" fmla="*/ 6992874 w 10515600"/>
              <a:gd name="csY23" fmla="*/ 27432 h 27432"/>
              <a:gd name="csX24" fmla="*/ 6440805 w 10515600"/>
              <a:gd name="csY24" fmla="*/ 27432 h 27432"/>
              <a:gd name="csX25" fmla="*/ 5888736 w 10515600"/>
              <a:gd name="csY25" fmla="*/ 27432 h 27432"/>
              <a:gd name="csX26" fmla="*/ 5336667 w 10515600"/>
              <a:gd name="csY26" fmla="*/ 27432 h 27432"/>
              <a:gd name="csX27" fmla="*/ 4574286 w 10515600"/>
              <a:gd name="csY27" fmla="*/ 27432 h 27432"/>
              <a:gd name="csX28" fmla="*/ 3917061 w 10515600"/>
              <a:gd name="csY28" fmla="*/ 27432 h 27432"/>
              <a:gd name="csX29" fmla="*/ 3575304 w 10515600"/>
              <a:gd name="csY29" fmla="*/ 27432 h 27432"/>
              <a:gd name="csX30" fmla="*/ 3023235 w 10515600"/>
              <a:gd name="csY30" fmla="*/ 27432 h 27432"/>
              <a:gd name="csX31" fmla="*/ 2260854 w 10515600"/>
              <a:gd name="csY31" fmla="*/ 27432 h 27432"/>
              <a:gd name="csX32" fmla="*/ 1813941 w 10515600"/>
              <a:gd name="csY32" fmla="*/ 27432 h 27432"/>
              <a:gd name="csX33" fmla="*/ 946404 w 10515600"/>
              <a:gd name="csY33" fmla="*/ 27432 h 27432"/>
              <a:gd name="csX34" fmla="*/ 0 w 10515600"/>
              <a:gd name="csY34" fmla="*/ 27432 h 27432"/>
              <a:gd name="csX35" fmla="*/ 0 w 10515600"/>
              <a:gd name="csY35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4622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218C0-6540-400C-BB51-353D5FD5C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1CD69-43B3-4FF7-AA41-30C36C957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F300D-5CBE-47E9-A193-E23C8314D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7DF3F-C51A-4DB1-9FCE-E3E0D8E92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69CF4-FAAB-44EF-A2A5-8352B4AA3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417A8947-4521-4FE1-8E44-27363435CE1B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8778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DE264-531D-49C1-A8AF-2B4C1D21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9A1B8-2F1B-46AA-858A-CFFF5AF7CE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9384"/>
            <a:ext cx="5181600" cy="42519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B9631-18C0-43BD-8AF3-9137D6D4C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9384"/>
            <a:ext cx="5181600" cy="425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32FCA-14C6-4497-9C27-3F5806244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E5057-693B-4E10-958E-0ABE79FEC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CECB1-0A35-4C10-9D3D-FE4404283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descr="Tag=AccentColor&#10;Flavor=Light&#10;Target=FillAndLine">
            <a:extLst>
              <a:ext uri="{FF2B5EF4-FFF2-40B4-BE49-F238E27FC236}">
                <a16:creationId xmlns:a16="http://schemas.microsoft.com/office/drawing/2014/main" id="{2FAAC677-2D37-4F63-9C4B-711A2988EE0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sX0" fmla="*/ 0 w 10515600"/>
              <a:gd name="csY0" fmla="*/ 0 h 27432"/>
              <a:gd name="csX1" fmla="*/ 446913 w 10515600"/>
              <a:gd name="csY1" fmla="*/ 0 h 27432"/>
              <a:gd name="csX2" fmla="*/ 1104138 w 10515600"/>
              <a:gd name="csY2" fmla="*/ 0 h 27432"/>
              <a:gd name="csX3" fmla="*/ 1866519 w 10515600"/>
              <a:gd name="csY3" fmla="*/ 0 h 27432"/>
              <a:gd name="csX4" fmla="*/ 2208276 w 10515600"/>
              <a:gd name="csY4" fmla="*/ 0 h 27432"/>
              <a:gd name="csX5" fmla="*/ 2550033 w 10515600"/>
              <a:gd name="csY5" fmla="*/ 0 h 27432"/>
              <a:gd name="csX6" fmla="*/ 3417570 w 10515600"/>
              <a:gd name="csY6" fmla="*/ 0 h 27432"/>
              <a:gd name="csX7" fmla="*/ 4074795 w 10515600"/>
              <a:gd name="csY7" fmla="*/ 0 h 27432"/>
              <a:gd name="csX8" fmla="*/ 4416552 w 10515600"/>
              <a:gd name="csY8" fmla="*/ 0 h 27432"/>
              <a:gd name="csX9" fmla="*/ 5073777 w 10515600"/>
              <a:gd name="csY9" fmla="*/ 0 h 27432"/>
              <a:gd name="csX10" fmla="*/ 5941314 w 10515600"/>
              <a:gd name="csY10" fmla="*/ 0 h 27432"/>
              <a:gd name="csX11" fmla="*/ 6493383 w 10515600"/>
              <a:gd name="csY11" fmla="*/ 0 h 27432"/>
              <a:gd name="csX12" fmla="*/ 7045452 w 10515600"/>
              <a:gd name="csY12" fmla="*/ 0 h 27432"/>
              <a:gd name="csX13" fmla="*/ 7702677 w 10515600"/>
              <a:gd name="csY13" fmla="*/ 0 h 27432"/>
              <a:gd name="csX14" fmla="*/ 8465058 w 10515600"/>
              <a:gd name="csY14" fmla="*/ 0 h 27432"/>
              <a:gd name="csX15" fmla="*/ 9227439 w 10515600"/>
              <a:gd name="csY15" fmla="*/ 0 h 27432"/>
              <a:gd name="csX16" fmla="*/ 10515600 w 10515600"/>
              <a:gd name="csY16" fmla="*/ 0 h 27432"/>
              <a:gd name="csX17" fmla="*/ 10515600 w 10515600"/>
              <a:gd name="csY17" fmla="*/ 27432 h 27432"/>
              <a:gd name="csX18" fmla="*/ 10068687 w 10515600"/>
              <a:gd name="csY18" fmla="*/ 27432 h 27432"/>
              <a:gd name="csX19" fmla="*/ 9201150 w 10515600"/>
              <a:gd name="csY19" fmla="*/ 27432 h 27432"/>
              <a:gd name="csX20" fmla="*/ 8543925 w 10515600"/>
              <a:gd name="csY20" fmla="*/ 27432 h 27432"/>
              <a:gd name="csX21" fmla="*/ 8202168 w 10515600"/>
              <a:gd name="csY21" fmla="*/ 27432 h 27432"/>
              <a:gd name="csX22" fmla="*/ 7544943 w 10515600"/>
              <a:gd name="csY22" fmla="*/ 27432 h 27432"/>
              <a:gd name="csX23" fmla="*/ 6992874 w 10515600"/>
              <a:gd name="csY23" fmla="*/ 27432 h 27432"/>
              <a:gd name="csX24" fmla="*/ 6440805 w 10515600"/>
              <a:gd name="csY24" fmla="*/ 27432 h 27432"/>
              <a:gd name="csX25" fmla="*/ 5888736 w 10515600"/>
              <a:gd name="csY25" fmla="*/ 27432 h 27432"/>
              <a:gd name="csX26" fmla="*/ 5336667 w 10515600"/>
              <a:gd name="csY26" fmla="*/ 27432 h 27432"/>
              <a:gd name="csX27" fmla="*/ 4574286 w 10515600"/>
              <a:gd name="csY27" fmla="*/ 27432 h 27432"/>
              <a:gd name="csX28" fmla="*/ 3917061 w 10515600"/>
              <a:gd name="csY28" fmla="*/ 27432 h 27432"/>
              <a:gd name="csX29" fmla="*/ 3575304 w 10515600"/>
              <a:gd name="csY29" fmla="*/ 27432 h 27432"/>
              <a:gd name="csX30" fmla="*/ 3023235 w 10515600"/>
              <a:gd name="csY30" fmla="*/ 27432 h 27432"/>
              <a:gd name="csX31" fmla="*/ 2260854 w 10515600"/>
              <a:gd name="csY31" fmla="*/ 27432 h 27432"/>
              <a:gd name="csX32" fmla="*/ 1813941 w 10515600"/>
              <a:gd name="csY32" fmla="*/ 27432 h 27432"/>
              <a:gd name="csX33" fmla="*/ 946404 w 10515600"/>
              <a:gd name="csY33" fmla="*/ 27432 h 27432"/>
              <a:gd name="csX34" fmla="*/ 0 w 10515600"/>
              <a:gd name="csY34" fmla="*/ 27432 h 27432"/>
              <a:gd name="csX35" fmla="*/ 0 w 10515600"/>
              <a:gd name="csY35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0194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38528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26080"/>
            <a:ext cx="5157787" cy="326440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38528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26080"/>
            <a:ext cx="5183188" cy="3264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9407CC-270D-4C98-B95C-7AE67D2E1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 descr="Tag=AccentColor&#10;Flavor=Light&#10;Target=FillAndLine">
            <a:extLst>
              <a:ext uri="{FF2B5EF4-FFF2-40B4-BE49-F238E27FC236}">
                <a16:creationId xmlns:a16="http://schemas.microsoft.com/office/drawing/2014/main" id="{F634C457-AEBF-47D7-9200-BAD05D138B1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sX0" fmla="*/ 0 w 10515600"/>
              <a:gd name="csY0" fmla="*/ 0 h 27432"/>
              <a:gd name="csX1" fmla="*/ 446913 w 10515600"/>
              <a:gd name="csY1" fmla="*/ 0 h 27432"/>
              <a:gd name="csX2" fmla="*/ 1104138 w 10515600"/>
              <a:gd name="csY2" fmla="*/ 0 h 27432"/>
              <a:gd name="csX3" fmla="*/ 1866519 w 10515600"/>
              <a:gd name="csY3" fmla="*/ 0 h 27432"/>
              <a:gd name="csX4" fmla="*/ 2208276 w 10515600"/>
              <a:gd name="csY4" fmla="*/ 0 h 27432"/>
              <a:gd name="csX5" fmla="*/ 2550033 w 10515600"/>
              <a:gd name="csY5" fmla="*/ 0 h 27432"/>
              <a:gd name="csX6" fmla="*/ 3417570 w 10515600"/>
              <a:gd name="csY6" fmla="*/ 0 h 27432"/>
              <a:gd name="csX7" fmla="*/ 4074795 w 10515600"/>
              <a:gd name="csY7" fmla="*/ 0 h 27432"/>
              <a:gd name="csX8" fmla="*/ 4416552 w 10515600"/>
              <a:gd name="csY8" fmla="*/ 0 h 27432"/>
              <a:gd name="csX9" fmla="*/ 5073777 w 10515600"/>
              <a:gd name="csY9" fmla="*/ 0 h 27432"/>
              <a:gd name="csX10" fmla="*/ 5941314 w 10515600"/>
              <a:gd name="csY10" fmla="*/ 0 h 27432"/>
              <a:gd name="csX11" fmla="*/ 6493383 w 10515600"/>
              <a:gd name="csY11" fmla="*/ 0 h 27432"/>
              <a:gd name="csX12" fmla="*/ 7045452 w 10515600"/>
              <a:gd name="csY12" fmla="*/ 0 h 27432"/>
              <a:gd name="csX13" fmla="*/ 7702677 w 10515600"/>
              <a:gd name="csY13" fmla="*/ 0 h 27432"/>
              <a:gd name="csX14" fmla="*/ 8465058 w 10515600"/>
              <a:gd name="csY14" fmla="*/ 0 h 27432"/>
              <a:gd name="csX15" fmla="*/ 9227439 w 10515600"/>
              <a:gd name="csY15" fmla="*/ 0 h 27432"/>
              <a:gd name="csX16" fmla="*/ 10515600 w 10515600"/>
              <a:gd name="csY16" fmla="*/ 0 h 27432"/>
              <a:gd name="csX17" fmla="*/ 10515600 w 10515600"/>
              <a:gd name="csY17" fmla="*/ 27432 h 27432"/>
              <a:gd name="csX18" fmla="*/ 10068687 w 10515600"/>
              <a:gd name="csY18" fmla="*/ 27432 h 27432"/>
              <a:gd name="csX19" fmla="*/ 9201150 w 10515600"/>
              <a:gd name="csY19" fmla="*/ 27432 h 27432"/>
              <a:gd name="csX20" fmla="*/ 8543925 w 10515600"/>
              <a:gd name="csY20" fmla="*/ 27432 h 27432"/>
              <a:gd name="csX21" fmla="*/ 8202168 w 10515600"/>
              <a:gd name="csY21" fmla="*/ 27432 h 27432"/>
              <a:gd name="csX22" fmla="*/ 7544943 w 10515600"/>
              <a:gd name="csY22" fmla="*/ 27432 h 27432"/>
              <a:gd name="csX23" fmla="*/ 6992874 w 10515600"/>
              <a:gd name="csY23" fmla="*/ 27432 h 27432"/>
              <a:gd name="csX24" fmla="*/ 6440805 w 10515600"/>
              <a:gd name="csY24" fmla="*/ 27432 h 27432"/>
              <a:gd name="csX25" fmla="*/ 5888736 w 10515600"/>
              <a:gd name="csY25" fmla="*/ 27432 h 27432"/>
              <a:gd name="csX26" fmla="*/ 5336667 w 10515600"/>
              <a:gd name="csY26" fmla="*/ 27432 h 27432"/>
              <a:gd name="csX27" fmla="*/ 4574286 w 10515600"/>
              <a:gd name="csY27" fmla="*/ 27432 h 27432"/>
              <a:gd name="csX28" fmla="*/ 3917061 w 10515600"/>
              <a:gd name="csY28" fmla="*/ 27432 h 27432"/>
              <a:gd name="csX29" fmla="*/ 3575304 w 10515600"/>
              <a:gd name="csY29" fmla="*/ 27432 h 27432"/>
              <a:gd name="csX30" fmla="*/ 3023235 w 10515600"/>
              <a:gd name="csY30" fmla="*/ 27432 h 27432"/>
              <a:gd name="csX31" fmla="*/ 2260854 w 10515600"/>
              <a:gd name="csY31" fmla="*/ 27432 h 27432"/>
              <a:gd name="csX32" fmla="*/ 1813941 w 10515600"/>
              <a:gd name="csY32" fmla="*/ 27432 h 27432"/>
              <a:gd name="csX33" fmla="*/ 946404 w 10515600"/>
              <a:gd name="csY33" fmla="*/ 27432 h 27432"/>
              <a:gd name="csX34" fmla="*/ 0 w 10515600"/>
              <a:gd name="csY34" fmla="*/ 27432 h 27432"/>
              <a:gd name="csX35" fmla="*/ 0 w 10515600"/>
              <a:gd name="csY35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1393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E9AC0-40CD-4451-BF00-5E2FC7B74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3704" y="1728216"/>
            <a:ext cx="7781544" cy="3392424"/>
          </a:xfrm>
        </p:spPr>
        <p:txBody>
          <a:bodyPr>
            <a:normAutofit/>
          </a:bodyPr>
          <a:lstStyle>
            <a:lvl1pPr algn="ctr">
              <a:defRPr sz="7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FD9A32-9C83-452B-BC69-CC6E95D3C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87B83E-E23E-42DE-876D-F55908A97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1C03A8-D428-4010-B413-13B1E9922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6" descr="Tag=AccentColor&#10;Flavor=Light&#10;Target=FillAndLine">
            <a:extLst>
              <a:ext uri="{FF2B5EF4-FFF2-40B4-BE49-F238E27FC236}">
                <a16:creationId xmlns:a16="http://schemas.microsoft.com/office/drawing/2014/main" id="{17F03060-85EC-4182-8C18-C6EE0D373E4B}"/>
              </a:ext>
            </a:extLst>
          </p:cNvPr>
          <p:cNvSpPr/>
          <p:nvPr/>
        </p:nvSpPr>
        <p:spPr>
          <a:xfrm>
            <a:off x="3974206" y="5126892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0648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2816A0-77C4-4A3F-87BD-A7321E3C8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FC3464-F026-4C77-9441-55ECA5054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D9257-BADE-4D0B-AF0B-D09FE95F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713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1C48E-F751-45A2-9010-208B81EDB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501F6-8430-4758-8636-74D68E990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3520" y="548640"/>
            <a:ext cx="6053328" cy="5431536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9DC39-A29C-494C-98B6-999746C5F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2237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4C988-A6DB-469A-B8AA-31866F36E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C39C3-81EB-4828-9AD3-2F1FAC521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9376C-9810-49A5-BC9A-4E6A0217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B9F96F3A-E64D-4401-B02C-BCD5CAA97CFF}"/>
              </a:ext>
            </a:extLst>
          </p:cNvPr>
          <p:cNvSpPr/>
          <p:nvPr/>
        </p:nvSpPr>
        <p:spPr>
          <a:xfrm rot="5400000">
            <a:off x="2797492" y="3254143"/>
            <a:ext cx="4480560" cy="27432"/>
          </a:xfrm>
          <a:custGeom>
            <a:avLst/>
            <a:gdLst>
              <a:gd name="csX0" fmla="*/ 0 w 4480560"/>
              <a:gd name="csY0" fmla="*/ 0 h 27432"/>
              <a:gd name="csX1" fmla="*/ 595274 w 4480560"/>
              <a:gd name="csY1" fmla="*/ 0 h 27432"/>
              <a:gd name="csX2" fmla="*/ 1100938 w 4480560"/>
              <a:gd name="csY2" fmla="*/ 0 h 27432"/>
              <a:gd name="csX3" fmla="*/ 1651406 w 4480560"/>
              <a:gd name="csY3" fmla="*/ 0 h 27432"/>
              <a:gd name="csX4" fmla="*/ 2336292 w 4480560"/>
              <a:gd name="csY4" fmla="*/ 0 h 27432"/>
              <a:gd name="csX5" fmla="*/ 2931566 w 4480560"/>
              <a:gd name="csY5" fmla="*/ 0 h 27432"/>
              <a:gd name="csX6" fmla="*/ 3482035 w 4480560"/>
              <a:gd name="csY6" fmla="*/ 0 h 27432"/>
              <a:gd name="csX7" fmla="*/ 4480560 w 4480560"/>
              <a:gd name="csY7" fmla="*/ 0 h 27432"/>
              <a:gd name="csX8" fmla="*/ 4480560 w 4480560"/>
              <a:gd name="csY8" fmla="*/ 27432 h 27432"/>
              <a:gd name="csX9" fmla="*/ 3840480 w 4480560"/>
              <a:gd name="csY9" fmla="*/ 27432 h 27432"/>
              <a:gd name="csX10" fmla="*/ 3290011 w 4480560"/>
              <a:gd name="csY10" fmla="*/ 27432 h 27432"/>
              <a:gd name="csX11" fmla="*/ 2560320 w 4480560"/>
              <a:gd name="csY11" fmla="*/ 27432 h 27432"/>
              <a:gd name="csX12" fmla="*/ 1965046 w 4480560"/>
              <a:gd name="csY12" fmla="*/ 27432 h 27432"/>
              <a:gd name="csX13" fmla="*/ 1459382 w 4480560"/>
              <a:gd name="csY13" fmla="*/ 27432 h 27432"/>
              <a:gd name="csX14" fmla="*/ 774497 w 4480560"/>
              <a:gd name="csY14" fmla="*/ 27432 h 27432"/>
              <a:gd name="csX15" fmla="*/ 0 w 4480560"/>
              <a:gd name="csY15" fmla="*/ 27432 h 27432"/>
              <a:gd name="csX16" fmla="*/ 0 w 4480560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70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37704-80BD-41B0-8395-41618EC3A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1920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A4032-EC66-4974-BD30-898B60E4B5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3520" y="548640"/>
            <a:ext cx="6053328" cy="543153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802D0-5574-4631-BA49-92362F8E4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1920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C2F5B-DDDD-4E64-94A9-99E46F4B0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A8D36-8865-48E7-8249-ED729A5F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F98C3-0B62-4361-8408-A01F70807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FE511AB6-FEAF-4549-BA88-0764BD10B63D}"/>
              </a:ext>
            </a:extLst>
          </p:cNvPr>
          <p:cNvSpPr/>
          <p:nvPr/>
        </p:nvSpPr>
        <p:spPr>
          <a:xfrm rot="5400000">
            <a:off x="2798064" y="3254143"/>
            <a:ext cx="4480560" cy="27432"/>
          </a:xfrm>
          <a:custGeom>
            <a:avLst/>
            <a:gdLst>
              <a:gd name="csX0" fmla="*/ 0 w 4480560"/>
              <a:gd name="csY0" fmla="*/ 0 h 27432"/>
              <a:gd name="csX1" fmla="*/ 595274 w 4480560"/>
              <a:gd name="csY1" fmla="*/ 0 h 27432"/>
              <a:gd name="csX2" fmla="*/ 1100938 w 4480560"/>
              <a:gd name="csY2" fmla="*/ 0 h 27432"/>
              <a:gd name="csX3" fmla="*/ 1651406 w 4480560"/>
              <a:gd name="csY3" fmla="*/ 0 h 27432"/>
              <a:gd name="csX4" fmla="*/ 2336292 w 4480560"/>
              <a:gd name="csY4" fmla="*/ 0 h 27432"/>
              <a:gd name="csX5" fmla="*/ 2931566 w 4480560"/>
              <a:gd name="csY5" fmla="*/ 0 h 27432"/>
              <a:gd name="csX6" fmla="*/ 3482035 w 4480560"/>
              <a:gd name="csY6" fmla="*/ 0 h 27432"/>
              <a:gd name="csX7" fmla="*/ 4480560 w 4480560"/>
              <a:gd name="csY7" fmla="*/ 0 h 27432"/>
              <a:gd name="csX8" fmla="*/ 4480560 w 4480560"/>
              <a:gd name="csY8" fmla="*/ 27432 h 27432"/>
              <a:gd name="csX9" fmla="*/ 3840480 w 4480560"/>
              <a:gd name="csY9" fmla="*/ 27432 h 27432"/>
              <a:gd name="csX10" fmla="*/ 3290011 w 4480560"/>
              <a:gd name="csY10" fmla="*/ 27432 h 27432"/>
              <a:gd name="csX11" fmla="*/ 2560320 w 4480560"/>
              <a:gd name="csY11" fmla="*/ 27432 h 27432"/>
              <a:gd name="csX12" fmla="*/ 1965046 w 4480560"/>
              <a:gd name="csY12" fmla="*/ 27432 h 27432"/>
              <a:gd name="csX13" fmla="*/ 1459382 w 4480560"/>
              <a:gd name="csY13" fmla="*/ 27432 h 27432"/>
              <a:gd name="csX14" fmla="*/ 774497 w 4480560"/>
              <a:gd name="csY14" fmla="*/ 27432 h 27432"/>
              <a:gd name="csX15" fmla="*/ 0 w 4480560"/>
              <a:gd name="csY15" fmla="*/ 27432 h 27432"/>
              <a:gd name="csX16" fmla="*/ 0 w 4480560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146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7CF8D-FF51-4FD8-B968-A2C850734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61A953-02EA-491B-A215-AF8420D74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84D1E-BC98-44E4-8D2C-89CCDC293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019EB-9C2B-4833-B72A-147694159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6E764-5688-45F5-94ED-A7357D2F5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787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0E3CB6-3025-40BF-A04B-A7B0CB4C01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DD5CB3-8B24-48C7-89D3-8DCAD36A45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BC931-E2BF-4C1D-91AA-89F82F826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8A135-AEE9-4483-957E-3D143318D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DEFD4-A052-46B3-B2AE-F3091D8A2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180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72D13B-FFCB-4650-AD3C-CB5037352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A9470-DF15-46A1-BF0E-8A5367A4B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047CB-E94D-482F-BACA-681E96C0EC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45051-2045-45DA-935E-2E3CA1A69ADC}" type="datetimeFigureOut">
              <a:rPr lang="en-US" smtClean="0"/>
              <a:t>2/8/2026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DA4B5-E797-42FC-8B7A-2294DF24A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ED201-6D0E-422C-B4EC-566A3DC29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662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44" r:id="rId6"/>
    <p:sldLayoutId id="2147483740" r:id="rId7"/>
    <p:sldLayoutId id="2147483741" r:id="rId8"/>
    <p:sldLayoutId id="2147483742" r:id="rId9"/>
    <p:sldLayoutId id="2147483743" r:id="rId10"/>
    <p:sldLayoutId id="2147483745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FA5B9DB-0BF9-4260-A97B-936524F96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B886F1-361C-1A1C-9924-141AA9A750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31611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9824785-89B4-4433-955A-F2C847B15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859" y="614291"/>
            <a:ext cx="10577516" cy="5566372"/>
          </a:xfrm>
          <a:custGeom>
            <a:avLst/>
            <a:gdLst>
              <a:gd name="connsiteX0" fmla="*/ 2871593 w 10577516"/>
              <a:gd name="connsiteY0" fmla="*/ 5218333 h 5566372"/>
              <a:gd name="connsiteX1" fmla="*/ 3890441 w 10577516"/>
              <a:gd name="connsiteY1" fmla="*/ 5441298 h 5566372"/>
              <a:gd name="connsiteX2" fmla="*/ 4931282 w 10577516"/>
              <a:gd name="connsiteY2" fmla="*/ 5506891 h 5566372"/>
              <a:gd name="connsiteX3" fmla="*/ 2871593 w 10577516"/>
              <a:gd name="connsiteY3" fmla="*/ 5218333 h 5566372"/>
              <a:gd name="connsiteX4" fmla="*/ 4720395 w 10577516"/>
              <a:gd name="connsiteY4" fmla="*/ 128662 h 5566372"/>
              <a:gd name="connsiteX5" fmla="*/ 3554723 w 10577516"/>
              <a:gd name="connsiteY5" fmla="*/ 250059 h 5566372"/>
              <a:gd name="connsiteX6" fmla="*/ 2497230 w 10577516"/>
              <a:gd name="connsiteY6" fmla="*/ 530354 h 5566372"/>
              <a:gd name="connsiteX7" fmla="*/ 2960194 w 10577516"/>
              <a:gd name="connsiteY7" fmla="*/ 403237 h 5566372"/>
              <a:gd name="connsiteX8" fmla="*/ 3980314 w 10577516"/>
              <a:gd name="connsiteY8" fmla="*/ 212560 h 5566372"/>
              <a:gd name="connsiteX9" fmla="*/ 4677428 w 10577516"/>
              <a:gd name="connsiteY9" fmla="*/ 139593 h 5566372"/>
              <a:gd name="connsiteX10" fmla="*/ 4760675 w 10577516"/>
              <a:gd name="connsiteY10" fmla="*/ 134906 h 5566372"/>
              <a:gd name="connsiteX11" fmla="*/ 4792997 w 10577516"/>
              <a:gd name="connsiteY11" fmla="*/ 130123 h 5566372"/>
              <a:gd name="connsiteX12" fmla="*/ 4798006 w 10577516"/>
              <a:gd name="connsiteY12" fmla="*/ 130828 h 5566372"/>
              <a:gd name="connsiteX13" fmla="*/ 4798006 w 10577516"/>
              <a:gd name="connsiteY13" fmla="*/ 129381 h 5566372"/>
              <a:gd name="connsiteX14" fmla="*/ 4792997 w 10577516"/>
              <a:gd name="connsiteY14" fmla="*/ 130123 h 5566372"/>
              <a:gd name="connsiteX15" fmla="*/ 4788863 w 10577516"/>
              <a:gd name="connsiteY15" fmla="*/ 129541 h 5566372"/>
              <a:gd name="connsiteX16" fmla="*/ 4720395 w 10577516"/>
              <a:gd name="connsiteY16" fmla="*/ 128662 h 5566372"/>
              <a:gd name="connsiteX17" fmla="*/ 6438297 w 10577516"/>
              <a:gd name="connsiteY17" fmla="*/ 19 h 5566372"/>
              <a:gd name="connsiteX18" fmla="*/ 7523724 w 10577516"/>
              <a:gd name="connsiteY18" fmla="*/ 104129 h 5566372"/>
              <a:gd name="connsiteX19" fmla="*/ 8525668 w 10577516"/>
              <a:gd name="connsiteY19" fmla="*/ 421922 h 5566372"/>
              <a:gd name="connsiteX20" fmla="*/ 9518204 w 10577516"/>
              <a:gd name="connsiteY20" fmla="*/ 1055605 h 5566372"/>
              <a:gd name="connsiteX21" fmla="*/ 10008242 w 10577516"/>
              <a:gd name="connsiteY21" fmla="*/ 1589500 h 5566372"/>
              <a:gd name="connsiteX22" fmla="*/ 10325274 w 10577516"/>
              <a:gd name="connsiteY22" fmla="*/ 2051574 h 5566372"/>
              <a:gd name="connsiteX23" fmla="*/ 10565908 w 10577516"/>
              <a:gd name="connsiteY23" fmla="*/ 2649028 h 5566372"/>
              <a:gd name="connsiteX24" fmla="*/ 10542137 w 10577516"/>
              <a:gd name="connsiteY24" fmla="*/ 2966823 h 5566372"/>
              <a:gd name="connsiteX25" fmla="*/ 10513789 w 10577516"/>
              <a:gd name="connsiteY25" fmla="*/ 3066355 h 5566372"/>
              <a:gd name="connsiteX26" fmla="*/ 10417308 w 10577516"/>
              <a:gd name="connsiteY26" fmla="*/ 3369150 h 5566372"/>
              <a:gd name="connsiteX27" fmla="*/ 9794430 w 10577516"/>
              <a:gd name="connsiteY27" fmla="*/ 4220840 h 5566372"/>
              <a:gd name="connsiteX28" fmla="*/ 8719522 w 10577516"/>
              <a:gd name="connsiteY28" fmla="*/ 4888463 h 5566372"/>
              <a:gd name="connsiteX29" fmla="*/ 7693808 w 10577516"/>
              <a:gd name="connsiteY29" fmla="*/ 5234223 h 5566372"/>
              <a:gd name="connsiteX30" fmla="*/ 7092669 w 10577516"/>
              <a:gd name="connsiteY30" fmla="*/ 5363248 h 5566372"/>
              <a:gd name="connsiteX31" fmla="*/ 6240978 w 10577516"/>
              <a:gd name="connsiteY31" fmla="*/ 5507272 h 5566372"/>
              <a:gd name="connsiteX32" fmla="*/ 5462508 w 10577516"/>
              <a:gd name="connsiteY32" fmla="*/ 5559010 h 5566372"/>
              <a:gd name="connsiteX33" fmla="*/ 4386329 w 10577516"/>
              <a:gd name="connsiteY33" fmla="*/ 5548839 h 5566372"/>
              <a:gd name="connsiteX34" fmla="*/ 3501461 w 10577516"/>
              <a:gd name="connsiteY34" fmla="*/ 5432782 h 5566372"/>
              <a:gd name="connsiteX35" fmla="*/ 2624348 w 10577516"/>
              <a:gd name="connsiteY35" fmla="*/ 5200409 h 5566372"/>
              <a:gd name="connsiteX36" fmla="*/ 2221385 w 10577516"/>
              <a:gd name="connsiteY36" fmla="*/ 5053589 h 5566372"/>
              <a:gd name="connsiteX37" fmla="*/ 1173934 w 10577516"/>
              <a:gd name="connsiteY37" fmla="*/ 4636388 h 5566372"/>
              <a:gd name="connsiteX38" fmla="*/ 438176 w 10577516"/>
              <a:gd name="connsiteY38" fmla="*/ 4080883 h 5566372"/>
              <a:gd name="connsiteX39" fmla="*/ 18687 w 10577516"/>
              <a:gd name="connsiteY39" fmla="*/ 2942161 h 5566372"/>
              <a:gd name="connsiteX40" fmla="*/ 0 w 10577516"/>
              <a:gd name="connsiteY40" fmla="*/ 2832713 h 5566372"/>
              <a:gd name="connsiteX41" fmla="*/ 0 w 10577516"/>
              <a:gd name="connsiteY41" fmla="*/ 2747290 h 5566372"/>
              <a:gd name="connsiteX42" fmla="*/ 14746 w 10577516"/>
              <a:gd name="connsiteY42" fmla="*/ 2661993 h 5566372"/>
              <a:gd name="connsiteX43" fmla="*/ 292753 w 10577516"/>
              <a:gd name="connsiteY43" fmla="*/ 1968947 h 5566372"/>
              <a:gd name="connsiteX44" fmla="*/ 923893 w 10577516"/>
              <a:gd name="connsiteY44" fmla="*/ 1299417 h 5566372"/>
              <a:gd name="connsiteX45" fmla="*/ 2035538 w 10577516"/>
              <a:gd name="connsiteY45" fmla="*/ 648828 h 5566372"/>
              <a:gd name="connsiteX46" fmla="*/ 3545571 w 10577516"/>
              <a:gd name="connsiteY46" fmla="*/ 196289 h 5566372"/>
              <a:gd name="connsiteX47" fmla="*/ 5211705 w 10577516"/>
              <a:gd name="connsiteY47" fmla="*/ 78323 h 5566372"/>
              <a:gd name="connsiteX48" fmla="*/ 5467720 w 10577516"/>
              <a:gd name="connsiteY48" fmla="*/ 77052 h 5566372"/>
              <a:gd name="connsiteX49" fmla="*/ 6073564 w 10577516"/>
              <a:gd name="connsiteY49" fmla="*/ 11840 h 5566372"/>
              <a:gd name="connsiteX50" fmla="*/ 6438297 w 10577516"/>
              <a:gd name="connsiteY50" fmla="*/ 19 h 5566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0577516" h="5566372">
                <a:moveTo>
                  <a:pt x="2871593" y="5218333"/>
                </a:moveTo>
                <a:cubicBezTo>
                  <a:pt x="2990956" y="5269180"/>
                  <a:pt x="3517223" y="5383586"/>
                  <a:pt x="3890441" y="5441298"/>
                </a:cubicBezTo>
                <a:cubicBezTo>
                  <a:pt x="4162855" y="5483248"/>
                  <a:pt x="4828063" y="5526341"/>
                  <a:pt x="4931282" y="5506891"/>
                </a:cubicBezTo>
                <a:cubicBezTo>
                  <a:pt x="4236330" y="5449560"/>
                  <a:pt x="3552816" y="5364900"/>
                  <a:pt x="2871593" y="5218333"/>
                </a:cubicBezTo>
                <a:close/>
                <a:moveTo>
                  <a:pt x="4720395" y="128662"/>
                </a:moveTo>
                <a:cubicBezTo>
                  <a:pt x="4329266" y="138551"/>
                  <a:pt x="3939509" y="179153"/>
                  <a:pt x="3554723" y="250059"/>
                </a:cubicBezTo>
                <a:cubicBezTo>
                  <a:pt x="3195336" y="315207"/>
                  <a:pt x="2841707" y="408943"/>
                  <a:pt x="2497230" y="530354"/>
                </a:cubicBezTo>
                <a:cubicBezTo>
                  <a:pt x="2650917" y="485354"/>
                  <a:pt x="2804728" y="441372"/>
                  <a:pt x="2960194" y="403237"/>
                </a:cubicBezTo>
                <a:cubicBezTo>
                  <a:pt x="3296586" y="321538"/>
                  <a:pt x="3637121" y="257890"/>
                  <a:pt x="3980314" y="212560"/>
                </a:cubicBezTo>
                <a:cubicBezTo>
                  <a:pt x="4212050" y="181797"/>
                  <a:pt x="4444422" y="158280"/>
                  <a:pt x="4677428" y="139593"/>
                </a:cubicBezTo>
                <a:cubicBezTo>
                  <a:pt x="4704949" y="137369"/>
                  <a:pt x="4732915" y="137369"/>
                  <a:pt x="4760675" y="134906"/>
                </a:cubicBezTo>
                <a:lnTo>
                  <a:pt x="4792997" y="130123"/>
                </a:lnTo>
                <a:lnTo>
                  <a:pt x="4798006" y="130828"/>
                </a:lnTo>
                <a:lnTo>
                  <a:pt x="4798006" y="129381"/>
                </a:lnTo>
                <a:lnTo>
                  <a:pt x="4792997" y="130123"/>
                </a:lnTo>
                <a:lnTo>
                  <a:pt x="4788863" y="129541"/>
                </a:lnTo>
                <a:cubicBezTo>
                  <a:pt x="4766106" y="127801"/>
                  <a:pt x="4743237" y="127505"/>
                  <a:pt x="4720395" y="128662"/>
                </a:cubicBezTo>
                <a:close/>
                <a:moveTo>
                  <a:pt x="6438297" y="19"/>
                </a:moveTo>
                <a:cubicBezTo>
                  <a:pt x="6802322" y="-887"/>
                  <a:pt x="7164203" y="31671"/>
                  <a:pt x="7523724" y="104129"/>
                </a:cubicBezTo>
                <a:cubicBezTo>
                  <a:pt x="7868594" y="172060"/>
                  <a:pt x="8204694" y="278661"/>
                  <a:pt x="8525668" y="421922"/>
                </a:cubicBezTo>
                <a:cubicBezTo>
                  <a:pt x="8886414" y="582180"/>
                  <a:pt x="9221001" y="795802"/>
                  <a:pt x="9518204" y="1055605"/>
                </a:cubicBezTo>
                <a:cubicBezTo>
                  <a:pt x="9701176" y="1214502"/>
                  <a:pt x="9865578" y="1393612"/>
                  <a:pt x="10008242" y="1589500"/>
                </a:cubicBezTo>
                <a:cubicBezTo>
                  <a:pt x="10117308" y="1741190"/>
                  <a:pt x="10222982" y="1895218"/>
                  <a:pt x="10325274" y="2051574"/>
                </a:cubicBezTo>
                <a:cubicBezTo>
                  <a:pt x="10446215" y="2231789"/>
                  <a:pt x="10528180" y="2435291"/>
                  <a:pt x="10565908" y="2649028"/>
                </a:cubicBezTo>
                <a:cubicBezTo>
                  <a:pt x="10584595" y="2757459"/>
                  <a:pt x="10583451" y="2862839"/>
                  <a:pt x="10542137" y="2966823"/>
                </a:cubicBezTo>
                <a:cubicBezTo>
                  <a:pt x="10530023" y="2999186"/>
                  <a:pt x="10520540" y="3032466"/>
                  <a:pt x="10513789" y="3066355"/>
                </a:cubicBezTo>
                <a:cubicBezTo>
                  <a:pt x="10490298" y="3169843"/>
                  <a:pt x="10458023" y="3271142"/>
                  <a:pt x="10417308" y="3369150"/>
                </a:cubicBezTo>
                <a:cubicBezTo>
                  <a:pt x="10279257" y="3703851"/>
                  <a:pt x="10062140" y="3980714"/>
                  <a:pt x="9794430" y="4220840"/>
                </a:cubicBezTo>
                <a:cubicBezTo>
                  <a:pt x="9475364" y="4506346"/>
                  <a:pt x="9109391" y="4716599"/>
                  <a:pt x="8719522" y="4888463"/>
                </a:cubicBezTo>
                <a:cubicBezTo>
                  <a:pt x="8388126" y="5034394"/>
                  <a:pt x="8044526" y="5145368"/>
                  <a:pt x="7693808" y="5234223"/>
                </a:cubicBezTo>
                <a:cubicBezTo>
                  <a:pt x="7495123" y="5285070"/>
                  <a:pt x="7294022" y="5324223"/>
                  <a:pt x="7092669" y="5363248"/>
                </a:cubicBezTo>
                <a:cubicBezTo>
                  <a:pt x="6809577" y="5418035"/>
                  <a:pt x="6527120" y="5474730"/>
                  <a:pt x="6240978" y="5507272"/>
                </a:cubicBezTo>
                <a:cubicBezTo>
                  <a:pt x="5982166" y="5536509"/>
                  <a:pt x="5722845" y="5554814"/>
                  <a:pt x="5462508" y="5559010"/>
                </a:cubicBezTo>
                <a:cubicBezTo>
                  <a:pt x="5103782" y="5564730"/>
                  <a:pt x="4744928" y="5576298"/>
                  <a:pt x="4386329" y="5548839"/>
                </a:cubicBezTo>
                <a:cubicBezTo>
                  <a:pt x="4089394" y="5527103"/>
                  <a:pt x="3793960" y="5488344"/>
                  <a:pt x="3501461" y="5432782"/>
                </a:cubicBezTo>
                <a:cubicBezTo>
                  <a:pt x="3204247" y="5374930"/>
                  <a:pt x="2911229" y="5297299"/>
                  <a:pt x="2624348" y="5200409"/>
                </a:cubicBezTo>
                <a:cubicBezTo>
                  <a:pt x="2488841" y="5154775"/>
                  <a:pt x="2358417" y="5094775"/>
                  <a:pt x="2221385" y="5053589"/>
                </a:cubicBezTo>
                <a:cubicBezTo>
                  <a:pt x="1859988" y="4945157"/>
                  <a:pt x="1506856" y="4815878"/>
                  <a:pt x="1173934" y="4636388"/>
                </a:cubicBezTo>
                <a:cubicBezTo>
                  <a:pt x="900250" y="4488931"/>
                  <a:pt x="647539" y="4313508"/>
                  <a:pt x="438176" y="4080883"/>
                </a:cubicBezTo>
                <a:cubicBezTo>
                  <a:pt x="146695" y="3757114"/>
                  <a:pt x="3178" y="3378811"/>
                  <a:pt x="18687" y="2942161"/>
                </a:cubicBezTo>
                <a:cubicBezTo>
                  <a:pt x="19582" y="2904814"/>
                  <a:pt x="13236" y="2867645"/>
                  <a:pt x="0" y="2832713"/>
                </a:cubicBezTo>
                <a:lnTo>
                  <a:pt x="0" y="2747290"/>
                </a:lnTo>
                <a:cubicBezTo>
                  <a:pt x="13474" y="2720341"/>
                  <a:pt x="10296" y="2690468"/>
                  <a:pt x="14746" y="2661993"/>
                </a:cubicBezTo>
                <a:cubicBezTo>
                  <a:pt x="54533" y="2409665"/>
                  <a:pt x="152923" y="2181106"/>
                  <a:pt x="292753" y="1968947"/>
                </a:cubicBezTo>
                <a:cubicBezTo>
                  <a:pt x="464108" y="1708991"/>
                  <a:pt x="680970" y="1491747"/>
                  <a:pt x="923893" y="1299417"/>
                </a:cubicBezTo>
                <a:cubicBezTo>
                  <a:pt x="1263678" y="1030182"/>
                  <a:pt x="1638930" y="820945"/>
                  <a:pt x="2035538" y="648828"/>
                </a:cubicBezTo>
                <a:cubicBezTo>
                  <a:pt x="2521001" y="438575"/>
                  <a:pt x="3025660" y="291755"/>
                  <a:pt x="3545571" y="196289"/>
                </a:cubicBezTo>
                <a:cubicBezTo>
                  <a:pt x="4094899" y="95674"/>
                  <a:pt x="4653670" y="56116"/>
                  <a:pt x="5211705" y="78323"/>
                </a:cubicBezTo>
                <a:cubicBezTo>
                  <a:pt x="5297128" y="81756"/>
                  <a:pt x="5383313" y="88620"/>
                  <a:pt x="5467720" y="77052"/>
                </a:cubicBezTo>
                <a:cubicBezTo>
                  <a:pt x="5669076" y="49467"/>
                  <a:pt x="5870557" y="24299"/>
                  <a:pt x="6073564" y="11840"/>
                </a:cubicBezTo>
                <a:cubicBezTo>
                  <a:pt x="6195374" y="4340"/>
                  <a:pt x="6316955" y="320"/>
                  <a:pt x="6438297" y="19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228567-A363-0217-334F-B16E89B5D4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66925" y="1731762"/>
            <a:ext cx="8058150" cy="2453841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IN" sz="5000" dirty="0" err="1"/>
              <a:t>FlowGov</a:t>
            </a:r>
            <a:r>
              <a:rPr lang="en-IN" sz="5000" dirty="0"/>
              <a:t> AI</a:t>
            </a:r>
            <a:br>
              <a:rPr lang="en-IN" sz="3500" dirty="0"/>
            </a:br>
            <a:br>
              <a:rPr lang="en-IN" sz="3500" dirty="0"/>
            </a:br>
            <a:r>
              <a:rPr lang="en-US" sz="3500" dirty="0"/>
              <a:t>AI-Powered Workflow Optimization for Government File Processing</a:t>
            </a:r>
            <a:endParaRPr lang="en-IN" sz="35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CDD57A-C05D-F809-E004-44A083FA8C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28975" y="4599432"/>
            <a:ext cx="5734051" cy="934593"/>
          </a:xfrm>
        </p:spPr>
        <p:txBody>
          <a:bodyPr>
            <a:normAutofit/>
          </a:bodyPr>
          <a:lstStyle/>
          <a:p>
            <a:pPr algn="ctr"/>
            <a:r>
              <a:rPr lang="en-IN" sz="4000" dirty="0"/>
              <a:t>By – Parth Garg </a:t>
            </a:r>
          </a:p>
          <a:p>
            <a:pPr algn="ctr"/>
            <a:endParaRPr lang="en-IN" sz="4000" dirty="0"/>
          </a:p>
        </p:txBody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CB2E64D6-3AEB-4AFF-9475-E210F85E0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419423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5009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C28079-4C21-0FCE-EFD1-FF22C0611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DA130F6-8289-3E9D-118C-53374533619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31611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45FEA7-990E-8B71-F973-8EE2AFC73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3600" dirty="0"/>
              <a:t>The Problem: Delays in Government File Processing</a:t>
            </a:r>
            <a:endParaRPr lang="en-IN" sz="35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A10516-9FAE-4511-4F14-8AA95404D8BA}"/>
              </a:ext>
            </a:extLst>
          </p:cNvPr>
          <p:cNvSpPr txBox="1"/>
          <p:nvPr/>
        </p:nvSpPr>
        <p:spPr>
          <a:xfrm>
            <a:off x="6604152" y="2331256"/>
            <a:ext cx="5289755" cy="4324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/>
              <a:t>• Millions of files are processed every year across multiple government departments</a:t>
            </a:r>
            <a:br>
              <a:rPr lang="en-US" sz="2500" b="1" dirty="0"/>
            </a:br>
            <a:r>
              <a:rPr lang="en-US" sz="2500" b="1" dirty="0"/>
              <a:t>• Inefficient file routing and uneven workload distribution cause significant delays</a:t>
            </a:r>
            <a:br>
              <a:rPr lang="en-US" sz="2500" b="1" dirty="0"/>
            </a:br>
            <a:r>
              <a:rPr lang="en-US" sz="2500" b="1" dirty="0"/>
              <a:t>• These inefficiencies result in large backlogs that slow down decision-making</a:t>
            </a:r>
            <a:br>
              <a:rPr lang="en-US" sz="2500" b="1" dirty="0"/>
            </a:br>
            <a:r>
              <a:rPr lang="en-US" sz="2500" b="1" dirty="0"/>
              <a:t>• Kerala Finance Department (2024): 26,257 files remain pending</a:t>
            </a:r>
            <a:br>
              <a:rPr lang="en-US" sz="2500" b="1" dirty="0"/>
            </a:br>
            <a:r>
              <a:rPr lang="en-US" sz="2500" b="1" dirty="0"/>
              <a:t>• Across India: More than 4 lakh RTI appeals are awaiting resolution</a:t>
            </a:r>
            <a:br>
              <a:rPr lang="en-US" sz="2500" b="1" dirty="0"/>
            </a:br>
            <a:r>
              <a:rPr lang="en-US" sz="2500" b="1" dirty="0"/>
              <a:t>• From a citizen’s perspective, the system lacks transparency</a:t>
            </a:r>
            <a:br>
              <a:rPr lang="en-US" sz="2500" b="1" dirty="0"/>
            </a:br>
            <a:r>
              <a:rPr lang="en-US" sz="2500" b="1" dirty="0"/>
              <a:t>• Most users can only see a generic status such as </a:t>
            </a:r>
            <a:r>
              <a:rPr lang="en-US" sz="2500" b="1" i="1" dirty="0"/>
              <a:t>“Pending at X office”  </a:t>
            </a:r>
            <a:r>
              <a:rPr lang="en-US" sz="2500" b="1" dirty="0"/>
              <a:t>only. </a:t>
            </a:r>
          </a:p>
        </p:txBody>
      </p:sp>
      <p:pic>
        <p:nvPicPr>
          <p:cNvPr id="2053" name="Picture 5" descr="Government Faces Huge Backlog of 26,257 Pending Files in Finance Department  | Thiruvananthapuram News - Times of India">
            <a:extLst>
              <a:ext uri="{FF2B5EF4-FFF2-40B4-BE49-F238E27FC236}">
                <a16:creationId xmlns:a16="http://schemas.microsoft.com/office/drawing/2014/main" id="{3E282D10-BB59-C240-1405-D8432FEAEF4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32" r="14044"/>
          <a:stretch>
            <a:fillRect/>
          </a:stretch>
        </p:blipFill>
        <p:spPr bwMode="auto">
          <a:xfrm>
            <a:off x="700036" y="2147888"/>
            <a:ext cx="5395964" cy="4252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53988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5" name="Rectangle 3084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9C5BE0-285B-52E3-C88C-453247881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 dirty="0"/>
              <a:t>Why Current Systems Are Not Enough</a:t>
            </a:r>
            <a:endParaRPr lang="en-IN" sz="4100" dirty="0"/>
          </a:p>
        </p:txBody>
      </p:sp>
      <p:sp>
        <p:nvSpPr>
          <p:cNvPr id="3086" name="Rectangle 6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093" y="2563839"/>
            <a:ext cx="3931920" cy="27432"/>
          </a:xfrm>
          <a:custGeom>
            <a:avLst/>
            <a:gdLst>
              <a:gd name="csX0" fmla="*/ 0 w 3931920"/>
              <a:gd name="csY0" fmla="*/ 0 h 27432"/>
              <a:gd name="csX1" fmla="*/ 733958 w 3931920"/>
              <a:gd name="csY1" fmla="*/ 0 h 27432"/>
              <a:gd name="csX2" fmla="*/ 1428598 w 3931920"/>
              <a:gd name="csY2" fmla="*/ 0 h 27432"/>
              <a:gd name="csX3" fmla="*/ 2123237 w 3931920"/>
              <a:gd name="csY3" fmla="*/ 0 h 27432"/>
              <a:gd name="csX4" fmla="*/ 2660599 w 3931920"/>
              <a:gd name="csY4" fmla="*/ 0 h 27432"/>
              <a:gd name="csX5" fmla="*/ 3237281 w 3931920"/>
              <a:gd name="csY5" fmla="*/ 0 h 27432"/>
              <a:gd name="csX6" fmla="*/ 3931920 w 3931920"/>
              <a:gd name="csY6" fmla="*/ 0 h 27432"/>
              <a:gd name="csX7" fmla="*/ 3931920 w 3931920"/>
              <a:gd name="csY7" fmla="*/ 27432 h 27432"/>
              <a:gd name="csX8" fmla="*/ 3276600 w 3931920"/>
              <a:gd name="csY8" fmla="*/ 27432 h 27432"/>
              <a:gd name="csX9" fmla="*/ 2739238 w 3931920"/>
              <a:gd name="csY9" fmla="*/ 27432 h 27432"/>
              <a:gd name="csX10" fmla="*/ 2201875 w 3931920"/>
              <a:gd name="csY10" fmla="*/ 27432 h 27432"/>
              <a:gd name="csX11" fmla="*/ 1507236 w 3931920"/>
              <a:gd name="csY11" fmla="*/ 27432 h 27432"/>
              <a:gd name="csX12" fmla="*/ 930554 w 3931920"/>
              <a:gd name="csY12" fmla="*/ 27432 h 27432"/>
              <a:gd name="csX13" fmla="*/ 0 w 3931920"/>
              <a:gd name="csY13" fmla="*/ 27432 h 27432"/>
              <a:gd name="csX14" fmla="*/ 0 w 3931920"/>
              <a:gd name="csY14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931920" h="27432" fill="none" extrusionOk="0">
                <a:moveTo>
                  <a:pt x="0" y="0"/>
                </a:moveTo>
                <a:cubicBezTo>
                  <a:pt x="245351" y="16874"/>
                  <a:pt x="509174" y="13736"/>
                  <a:pt x="733958" y="0"/>
                </a:cubicBezTo>
                <a:cubicBezTo>
                  <a:pt x="958742" y="-13736"/>
                  <a:pt x="1245406" y="-17215"/>
                  <a:pt x="1428598" y="0"/>
                </a:cubicBezTo>
                <a:cubicBezTo>
                  <a:pt x="1611790" y="17215"/>
                  <a:pt x="1930525" y="20562"/>
                  <a:pt x="2123237" y="0"/>
                </a:cubicBezTo>
                <a:cubicBezTo>
                  <a:pt x="2315949" y="-20562"/>
                  <a:pt x="2485508" y="11332"/>
                  <a:pt x="2660599" y="0"/>
                </a:cubicBezTo>
                <a:cubicBezTo>
                  <a:pt x="2835690" y="-11332"/>
                  <a:pt x="3075198" y="-14809"/>
                  <a:pt x="3237281" y="0"/>
                </a:cubicBezTo>
                <a:cubicBezTo>
                  <a:pt x="3399364" y="14809"/>
                  <a:pt x="3745084" y="-4992"/>
                  <a:pt x="3931920" y="0"/>
                </a:cubicBezTo>
                <a:cubicBezTo>
                  <a:pt x="3930963" y="8431"/>
                  <a:pt x="3931571" y="14612"/>
                  <a:pt x="3931920" y="27432"/>
                </a:cubicBezTo>
                <a:cubicBezTo>
                  <a:pt x="3765435" y="40792"/>
                  <a:pt x="3452398" y="38703"/>
                  <a:pt x="3276600" y="27432"/>
                </a:cubicBezTo>
                <a:cubicBezTo>
                  <a:pt x="3100802" y="16161"/>
                  <a:pt x="2914889" y="26998"/>
                  <a:pt x="2739238" y="27432"/>
                </a:cubicBezTo>
                <a:cubicBezTo>
                  <a:pt x="2563587" y="27866"/>
                  <a:pt x="2395484" y="39154"/>
                  <a:pt x="2201875" y="27432"/>
                </a:cubicBezTo>
                <a:cubicBezTo>
                  <a:pt x="2008266" y="15710"/>
                  <a:pt x="1781367" y="4899"/>
                  <a:pt x="1507236" y="27432"/>
                </a:cubicBezTo>
                <a:cubicBezTo>
                  <a:pt x="1233105" y="49965"/>
                  <a:pt x="1075495" y="47542"/>
                  <a:pt x="930554" y="27432"/>
                </a:cubicBezTo>
                <a:cubicBezTo>
                  <a:pt x="785613" y="7322"/>
                  <a:pt x="268930" y="30433"/>
                  <a:pt x="0" y="27432"/>
                </a:cubicBezTo>
                <a:cubicBezTo>
                  <a:pt x="226" y="18208"/>
                  <a:pt x="-648" y="12891"/>
                  <a:pt x="0" y="0"/>
                </a:cubicBezTo>
                <a:close/>
              </a:path>
              <a:path w="3931920" h="27432" stroke="0" extrusionOk="0">
                <a:moveTo>
                  <a:pt x="0" y="0"/>
                </a:moveTo>
                <a:cubicBezTo>
                  <a:pt x="278269" y="4786"/>
                  <a:pt x="349028" y="-10422"/>
                  <a:pt x="616001" y="0"/>
                </a:cubicBezTo>
                <a:cubicBezTo>
                  <a:pt x="882974" y="10422"/>
                  <a:pt x="931617" y="-15515"/>
                  <a:pt x="1153363" y="0"/>
                </a:cubicBezTo>
                <a:cubicBezTo>
                  <a:pt x="1375109" y="15515"/>
                  <a:pt x="1704089" y="-3631"/>
                  <a:pt x="1887322" y="0"/>
                </a:cubicBezTo>
                <a:cubicBezTo>
                  <a:pt x="2070555" y="3631"/>
                  <a:pt x="2344155" y="2213"/>
                  <a:pt x="2503322" y="0"/>
                </a:cubicBezTo>
                <a:cubicBezTo>
                  <a:pt x="2662489" y="-2213"/>
                  <a:pt x="2976859" y="26691"/>
                  <a:pt x="3119323" y="0"/>
                </a:cubicBezTo>
                <a:cubicBezTo>
                  <a:pt x="3261787" y="-26691"/>
                  <a:pt x="3588171" y="-28651"/>
                  <a:pt x="3931920" y="0"/>
                </a:cubicBezTo>
                <a:cubicBezTo>
                  <a:pt x="3930565" y="9524"/>
                  <a:pt x="3930718" y="13975"/>
                  <a:pt x="3931920" y="27432"/>
                </a:cubicBezTo>
                <a:cubicBezTo>
                  <a:pt x="3664329" y="4021"/>
                  <a:pt x="3437686" y="14511"/>
                  <a:pt x="3276600" y="27432"/>
                </a:cubicBezTo>
                <a:cubicBezTo>
                  <a:pt x="3115514" y="40353"/>
                  <a:pt x="2913592" y="48967"/>
                  <a:pt x="2739238" y="27432"/>
                </a:cubicBezTo>
                <a:cubicBezTo>
                  <a:pt x="2564884" y="5897"/>
                  <a:pt x="2294049" y="39820"/>
                  <a:pt x="2083918" y="27432"/>
                </a:cubicBezTo>
                <a:cubicBezTo>
                  <a:pt x="1873787" y="15044"/>
                  <a:pt x="1718903" y="21388"/>
                  <a:pt x="1428598" y="27432"/>
                </a:cubicBezTo>
                <a:cubicBezTo>
                  <a:pt x="1138293" y="33476"/>
                  <a:pt x="952209" y="50441"/>
                  <a:pt x="812597" y="27432"/>
                </a:cubicBezTo>
                <a:cubicBezTo>
                  <a:pt x="672985" y="4423"/>
                  <a:pt x="305800" y="28240"/>
                  <a:pt x="0" y="27432"/>
                </a:cubicBezTo>
                <a:cubicBezTo>
                  <a:pt x="-800" y="16780"/>
                  <a:pt x="-583" y="12910"/>
                  <a:pt x="0" y="0"/>
                </a:cubicBezTo>
                <a:close/>
              </a:path>
            </a:pathLst>
          </a:custGeom>
          <a:solidFill>
            <a:srgbClr val="23DBFF"/>
          </a:solidFill>
          <a:ln w="38100" cap="rnd">
            <a:solidFill>
              <a:srgbClr val="23DB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78" name="Content Placeholder 3077">
            <a:extLst>
              <a:ext uri="{FF2B5EF4-FFF2-40B4-BE49-F238E27FC236}">
                <a16:creationId xmlns:a16="http://schemas.microsoft.com/office/drawing/2014/main" id="{95A8F588-6999-B539-1848-9EE0DFDB4F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872899"/>
            <a:ext cx="5310177" cy="3320668"/>
          </a:xfrm>
        </p:spPr>
        <p:txBody>
          <a:bodyPr>
            <a:noAutofit/>
          </a:bodyPr>
          <a:lstStyle/>
          <a:p>
            <a:r>
              <a:rPr lang="en-US" sz="2500" dirty="0"/>
              <a:t>• The current system only tracks the file status at a particular office.</a:t>
            </a:r>
            <a:br>
              <a:rPr lang="en-US" sz="2500" dirty="0"/>
            </a:br>
            <a:r>
              <a:rPr lang="en-US" sz="2500" dirty="0"/>
              <a:t>• There is no mechanism to predict delays or expected completion time</a:t>
            </a:r>
            <a:br>
              <a:rPr lang="en-US" sz="2500" dirty="0"/>
            </a:br>
            <a:r>
              <a:rPr lang="en-US" sz="2500" dirty="0"/>
              <a:t>• Bottlenecks in the workflow are not identified in advance</a:t>
            </a:r>
            <a:br>
              <a:rPr lang="en-US" sz="2500" dirty="0"/>
            </a:br>
            <a:r>
              <a:rPr lang="en-US" sz="2500" dirty="0"/>
              <a:t>• Workload is not balanced across officers or departments</a:t>
            </a:r>
            <a:br>
              <a:rPr lang="en-US" sz="2500" dirty="0"/>
            </a:br>
            <a:r>
              <a:rPr lang="en-US" sz="2500" dirty="0"/>
              <a:t>• Issues are addressed only after delays occur</a:t>
            </a:r>
            <a:br>
              <a:rPr lang="en-US" sz="2500" dirty="0"/>
            </a:br>
            <a:r>
              <a:rPr lang="en-US" sz="2500" dirty="0"/>
              <a:t>• Overall, the system remains reactive rather than proactive</a:t>
            </a:r>
          </a:p>
        </p:txBody>
      </p:sp>
      <p:pic>
        <p:nvPicPr>
          <p:cNvPr id="3074" name="Picture 2" descr="Your Guide to Government Workflow Automation in 2025">
            <a:extLst>
              <a:ext uri="{FF2B5EF4-FFF2-40B4-BE49-F238E27FC236}">
                <a16:creationId xmlns:a16="http://schemas.microsoft.com/office/drawing/2014/main" id="{EA467725-7D7B-F102-7ECA-64DAAB99BB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6" r="16877"/>
          <a:stretch>
            <a:fillRect/>
          </a:stretch>
        </p:blipFill>
        <p:spPr bwMode="auto">
          <a:xfrm>
            <a:off x="5313225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462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45DEEED-BE3A-4307-800A-45F555B51C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5C73706-35AD-4797-B796-D806B8FE5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5006297" cy="6858000"/>
          </a:xfrm>
          <a:custGeom>
            <a:avLst/>
            <a:gdLst>
              <a:gd name="connsiteX0" fmla="*/ 5006297 w 5006297"/>
              <a:gd name="connsiteY0" fmla="*/ 0 h 6858000"/>
              <a:gd name="connsiteX1" fmla="*/ 1229608 w 5006297"/>
              <a:gd name="connsiteY1" fmla="*/ 0 h 6858000"/>
              <a:gd name="connsiteX2" fmla="*/ 1128285 w 5006297"/>
              <a:gd name="connsiteY2" fmla="*/ 156518 h 6858000"/>
              <a:gd name="connsiteX3" fmla="*/ 768782 w 5006297"/>
              <a:gd name="connsiteY3" fmla="*/ 825746 h 6858000"/>
              <a:gd name="connsiteX4" fmla="*/ 743290 w 5006297"/>
              <a:gd name="connsiteY4" fmla="*/ 860183 h 6858000"/>
              <a:gd name="connsiteX5" fmla="*/ 787138 w 5006297"/>
              <a:gd name="connsiteY5" fmla="*/ 756243 h 6858000"/>
              <a:gd name="connsiteX6" fmla="*/ 980544 w 5006297"/>
              <a:gd name="connsiteY6" fmla="*/ 339016 h 6858000"/>
              <a:gd name="connsiteX7" fmla="*/ 1161966 w 5006297"/>
              <a:gd name="connsiteY7" fmla="*/ 0 h 6858000"/>
              <a:gd name="connsiteX8" fmla="*/ 1104491 w 5006297"/>
              <a:gd name="connsiteY8" fmla="*/ 0 h 6858000"/>
              <a:gd name="connsiteX9" fmla="*/ 993044 w 5006297"/>
              <a:gd name="connsiteY9" fmla="*/ 204247 h 6858000"/>
              <a:gd name="connsiteX10" fmla="*/ 494731 w 5006297"/>
              <a:gd name="connsiteY10" fmla="*/ 1375322 h 6858000"/>
              <a:gd name="connsiteX11" fmla="*/ 46559 w 5006297"/>
              <a:gd name="connsiteY11" fmla="*/ 3329787 h 6858000"/>
              <a:gd name="connsiteX12" fmla="*/ 12272 w 5006297"/>
              <a:gd name="connsiteY12" fmla="*/ 4352595 h 6858000"/>
              <a:gd name="connsiteX13" fmla="*/ 171094 w 5006297"/>
              <a:gd name="connsiteY13" fmla="*/ 5544543 h 6858000"/>
              <a:gd name="connsiteX14" fmla="*/ 538125 w 5006297"/>
              <a:gd name="connsiteY14" fmla="*/ 6816123 h 6858000"/>
              <a:gd name="connsiteX15" fmla="*/ 555724 w 5006297"/>
              <a:gd name="connsiteY15" fmla="*/ 6858000 h 6858000"/>
              <a:gd name="connsiteX16" fmla="*/ 608303 w 5006297"/>
              <a:gd name="connsiteY16" fmla="*/ 6858000 h 6858000"/>
              <a:gd name="connsiteX17" fmla="*/ 596366 w 5006297"/>
              <a:gd name="connsiteY17" fmla="*/ 6829337 h 6858000"/>
              <a:gd name="connsiteX18" fmla="*/ 364843 w 5006297"/>
              <a:gd name="connsiteY18" fmla="*/ 6132604 h 6858000"/>
              <a:gd name="connsiteX19" fmla="*/ 213412 w 5006297"/>
              <a:gd name="connsiteY19" fmla="*/ 5505676 h 6858000"/>
              <a:gd name="connsiteX20" fmla="*/ 211628 w 5006297"/>
              <a:gd name="connsiteY20" fmla="*/ 5472254 h 6858000"/>
              <a:gd name="connsiteX21" fmla="*/ 311945 w 5006297"/>
              <a:gd name="connsiteY21" fmla="*/ 5821167 h 6858000"/>
              <a:gd name="connsiteX22" fmla="*/ 623960 w 5006297"/>
              <a:gd name="connsiteY22" fmla="*/ 6658826 h 6858000"/>
              <a:gd name="connsiteX23" fmla="*/ 717350 w 5006297"/>
              <a:gd name="connsiteY23" fmla="*/ 6858000 h 6858000"/>
              <a:gd name="connsiteX24" fmla="*/ 5006297 w 5006297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006297" h="6858000">
                <a:moveTo>
                  <a:pt x="5006297" y="0"/>
                </a:moveTo>
                <a:lnTo>
                  <a:pt x="1229608" y="0"/>
                </a:lnTo>
                <a:lnTo>
                  <a:pt x="1128285" y="156518"/>
                </a:lnTo>
                <a:cubicBezTo>
                  <a:pt x="996915" y="372642"/>
                  <a:pt x="877575" y="596029"/>
                  <a:pt x="768782" y="825746"/>
                </a:cubicBezTo>
                <a:cubicBezTo>
                  <a:pt x="763429" y="839224"/>
                  <a:pt x="754646" y="851089"/>
                  <a:pt x="743290" y="860183"/>
                </a:cubicBezTo>
                <a:cubicBezTo>
                  <a:pt x="757948" y="825621"/>
                  <a:pt x="772224" y="790805"/>
                  <a:pt x="787138" y="756243"/>
                </a:cubicBezTo>
                <a:cubicBezTo>
                  <a:pt x="848067" y="615114"/>
                  <a:pt x="912406" y="475964"/>
                  <a:pt x="980544" y="339016"/>
                </a:cubicBezTo>
                <a:lnTo>
                  <a:pt x="1161966" y="0"/>
                </a:lnTo>
                <a:lnTo>
                  <a:pt x="1104491" y="0"/>
                </a:lnTo>
                <a:lnTo>
                  <a:pt x="993044" y="204247"/>
                </a:lnTo>
                <a:cubicBezTo>
                  <a:pt x="798291" y="579761"/>
                  <a:pt x="634561" y="971401"/>
                  <a:pt x="494731" y="1375322"/>
                </a:cubicBezTo>
                <a:cubicBezTo>
                  <a:pt x="277072" y="2009491"/>
                  <a:pt x="126862" y="2664550"/>
                  <a:pt x="46559" y="3329787"/>
                </a:cubicBezTo>
                <a:cubicBezTo>
                  <a:pt x="4496" y="3670216"/>
                  <a:pt x="-14242" y="4010141"/>
                  <a:pt x="12272" y="4352595"/>
                </a:cubicBezTo>
                <a:cubicBezTo>
                  <a:pt x="43627" y="4752907"/>
                  <a:pt x="90918" y="5150814"/>
                  <a:pt x="171094" y="5544543"/>
                </a:cubicBezTo>
                <a:cubicBezTo>
                  <a:pt x="259524" y="5979227"/>
                  <a:pt x="379573" y="6403657"/>
                  <a:pt x="538125" y="6816123"/>
                </a:cubicBezTo>
                <a:lnTo>
                  <a:pt x="555724" y="6858000"/>
                </a:lnTo>
                <a:lnTo>
                  <a:pt x="608303" y="6858000"/>
                </a:lnTo>
                <a:lnTo>
                  <a:pt x="596366" y="6829337"/>
                </a:lnTo>
                <a:cubicBezTo>
                  <a:pt x="508696" y="6602484"/>
                  <a:pt x="431985" y="6369981"/>
                  <a:pt x="364843" y="6132604"/>
                </a:cubicBezTo>
                <a:cubicBezTo>
                  <a:pt x="306463" y="5925865"/>
                  <a:pt x="263378" y="5714822"/>
                  <a:pt x="213412" y="5505676"/>
                </a:cubicBezTo>
                <a:cubicBezTo>
                  <a:pt x="212231" y="5494574"/>
                  <a:pt x="211637" y="5483421"/>
                  <a:pt x="211628" y="5472254"/>
                </a:cubicBezTo>
                <a:cubicBezTo>
                  <a:pt x="248210" y="5599108"/>
                  <a:pt x="277401" y="5710897"/>
                  <a:pt x="311945" y="5821167"/>
                </a:cubicBezTo>
                <a:cubicBezTo>
                  <a:pt x="401999" y="6108329"/>
                  <a:pt x="505868" y="6387643"/>
                  <a:pt x="623960" y="6658826"/>
                </a:cubicBezTo>
                <a:lnTo>
                  <a:pt x="717350" y="6858000"/>
                </a:lnTo>
                <a:lnTo>
                  <a:pt x="5006297" y="6858000"/>
                </a:lnTo>
                <a:close/>
              </a:path>
            </a:pathLst>
          </a:custGeom>
          <a:solidFill>
            <a:schemeClr val="accent1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02A4EF-5531-2219-58B6-D53B4B6CD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644652"/>
            <a:ext cx="3182112" cy="5568696"/>
          </a:xfrm>
        </p:spPr>
        <p:txBody>
          <a:bodyPr>
            <a:normAutofit/>
          </a:bodyPr>
          <a:lstStyle/>
          <a:p>
            <a:r>
              <a:rPr lang="en-IN" sz="5100">
                <a:solidFill>
                  <a:srgbClr val="FFFFFF"/>
                </a:solidFill>
              </a:rPr>
              <a:t>Our Solution: FlowGov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B6C8D-B4B4-2FB6-66E9-AB89F52703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4350" y="644652"/>
            <a:ext cx="5856401" cy="5568696"/>
          </a:xfrm>
        </p:spPr>
        <p:txBody>
          <a:bodyPr anchor="ctr">
            <a:normAutofit/>
          </a:bodyPr>
          <a:lstStyle/>
          <a:p>
            <a:r>
              <a:rPr lang="en-US" dirty="0"/>
              <a:t>An </a:t>
            </a:r>
            <a:r>
              <a:rPr lang="en-US" b="1" dirty="0"/>
              <a:t>AI-powered workflow optimization system</a:t>
            </a:r>
            <a:r>
              <a:rPr lang="en-US" dirty="0"/>
              <a:t> for file processing</a:t>
            </a:r>
            <a:br>
              <a:rPr lang="en-US" dirty="0"/>
            </a:br>
            <a:r>
              <a:rPr lang="en-US" dirty="0"/>
              <a:t>• Predicts expected file processing time using historical data</a:t>
            </a:r>
            <a:br>
              <a:rPr lang="en-US" dirty="0"/>
            </a:br>
            <a:r>
              <a:rPr lang="en-US" dirty="0"/>
              <a:t>• Identifies steps in the workflow that are prone to delays</a:t>
            </a:r>
            <a:br>
              <a:rPr lang="en-US" dirty="0"/>
            </a:br>
            <a:r>
              <a:rPr lang="en-US" dirty="0"/>
              <a:t>• Recommends the most suitable officer or routing path for each file</a:t>
            </a:r>
            <a:br>
              <a:rPr lang="en-US" dirty="0"/>
            </a:br>
            <a:r>
              <a:rPr lang="en-US" dirty="0"/>
              <a:t>• Ensures balanced workload distribution across departments</a:t>
            </a:r>
            <a:br>
              <a:rPr lang="en-US" dirty="0"/>
            </a:br>
            <a:r>
              <a:rPr lang="en-US" dirty="0"/>
              <a:t>• Improves overall transparency, efficiency, and decision-making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5512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E2D670-9119-962B-82D4-1176E723F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5600"/>
              <a:t>System Workflow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2395728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rgbClr val="DE9E28"/>
          </a:solidFill>
          <a:ln w="38100" cap="rnd">
            <a:solidFill>
              <a:srgbClr val="DE9E28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8DC27-2DCE-6559-9E96-86AFE27A1D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• File details are entered into the system at the time of submission</a:t>
            </a:r>
            <a:br>
              <a:rPr lang="en-US" dirty="0"/>
            </a:br>
            <a:r>
              <a:rPr lang="en-US" dirty="0"/>
              <a:t>• The AI model predicts the total expected processing time</a:t>
            </a:r>
            <a:br>
              <a:rPr lang="en-US" dirty="0"/>
            </a:br>
            <a:r>
              <a:rPr lang="en-US" dirty="0"/>
              <a:t>• Workflow steps with a high risk of delay are identified in advance</a:t>
            </a:r>
            <a:br>
              <a:rPr lang="en-US" dirty="0"/>
            </a:br>
            <a:r>
              <a:rPr lang="en-US" dirty="0"/>
              <a:t>• The system recommends the most suitable officer or routing path</a:t>
            </a:r>
            <a:br>
              <a:rPr lang="en-US" dirty="0"/>
            </a:br>
            <a:r>
              <a:rPr lang="en-US" dirty="0"/>
              <a:t>• A centralized dashboard displays real-time insights and status updates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840C80-76A5-7491-7748-EDABBE441E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558" r="27395" b="-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970329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46F6A7-0B48-49A7-8E23-3C1F09939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ketchy content container">
            <a:extLst>
              <a:ext uri="{FF2B5EF4-FFF2-40B4-BE49-F238E27FC236}">
                <a16:creationId xmlns:a16="http://schemas.microsoft.com/office/drawing/2014/main" id="{F53AD421-C5C8-4C52-9DD0-6A594F21A5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5564" y="493776"/>
            <a:ext cx="11040872" cy="5722227"/>
          </a:xfrm>
          <a:custGeom>
            <a:avLst/>
            <a:gdLst>
              <a:gd name="csX0" fmla="*/ 0 w 11040872"/>
              <a:gd name="csY0" fmla="*/ 594482 h 5722227"/>
              <a:gd name="csX1" fmla="*/ 594482 w 11040872"/>
              <a:gd name="csY1" fmla="*/ 0 h 5722227"/>
              <a:gd name="csX2" fmla="*/ 1448314 w 11040872"/>
              <a:gd name="csY2" fmla="*/ 0 h 5722227"/>
              <a:gd name="csX3" fmla="*/ 1908070 w 11040872"/>
              <a:gd name="csY3" fmla="*/ 0 h 5722227"/>
              <a:gd name="csX4" fmla="*/ 2564864 w 11040872"/>
              <a:gd name="csY4" fmla="*/ 0 h 5722227"/>
              <a:gd name="csX5" fmla="*/ 3320177 w 11040872"/>
              <a:gd name="csY5" fmla="*/ 0 h 5722227"/>
              <a:gd name="csX6" fmla="*/ 4174009 w 11040872"/>
              <a:gd name="csY6" fmla="*/ 0 h 5722227"/>
              <a:gd name="csX7" fmla="*/ 4929322 w 11040872"/>
              <a:gd name="csY7" fmla="*/ 0 h 5722227"/>
              <a:gd name="csX8" fmla="*/ 5783154 w 11040872"/>
              <a:gd name="csY8" fmla="*/ 0 h 5722227"/>
              <a:gd name="csX9" fmla="*/ 6538466 w 11040872"/>
              <a:gd name="csY9" fmla="*/ 0 h 5722227"/>
              <a:gd name="csX10" fmla="*/ 6998222 w 11040872"/>
              <a:gd name="csY10" fmla="*/ 0 h 5722227"/>
              <a:gd name="csX11" fmla="*/ 7753535 w 11040872"/>
              <a:gd name="csY11" fmla="*/ 0 h 5722227"/>
              <a:gd name="csX12" fmla="*/ 8311810 w 11040872"/>
              <a:gd name="csY12" fmla="*/ 0 h 5722227"/>
              <a:gd name="csX13" fmla="*/ 8771566 w 11040872"/>
              <a:gd name="csY13" fmla="*/ 0 h 5722227"/>
              <a:gd name="csX14" fmla="*/ 9132802 w 11040872"/>
              <a:gd name="csY14" fmla="*/ 0 h 5722227"/>
              <a:gd name="csX15" fmla="*/ 9592558 w 11040872"/>
              <a:gd name="csY15" fmla="*/ 0 h 5722227"/>
              <a:gd name="csX16" fmla="*/ 10446390 w 11040872"/>
              <a:gd name="csY16" fmla="*/ 0 h 5722227"/>
              <a:gd name="csX17" fmla="*/ 11040872 w 11040872"/>
              <a:gd name="csY17" fmla="*/ 594482 h 5722227"/>
              <a:gd name="csX18" fmla="*/ 11040872 w 11040872"/>
              <a:gd name="csY18" fmla="*/ 1332756 h 5722227"/>
              <a:gd name="csX19" fmla="*/ 11040872 w 11040872"/>
              <a:gd name="csY19" fmla="*/ 2071031 h 5722227"/>
              <a:gd name="csX20" fmla="*/ 11040872 w 11040872"/>
              <a:gd name="csY20" fmla="*/ 2627974 h 5722227"/>
              <a:gd name="csX21" fmla="*/ 11040872 w 11040872"/>
              <a:gd name="csY21" fmla="*/ 3366249 h 5722227"/>
              <a:gd name="csX22" fmla="*/ 11040872 w 11040872"/>
              <a:gd name="csY22" fmla="*/ 3923192 h 5722227"/>
              <a:gd name="csX23" fmla="*/ 11040872 w 11040872"/>
              <a:gd name="csY23" fmla="*/ 5127745 h 5722227"/>
              <a:gd name="csX24" fmla="*/ 10446390 w 11040872"/>
              <a:gd name="csY24" fmla="*/ 5722227 h 5722227"/>
              <a:gd name="csX25" fmla="*/ 9986634 w 11040872"/>
              <a:gd name="csY25" fmla="*/ 5722227 h 5722227"/>
              <a:gd name="csX26" fmla="*/ 9132802 w 11040872"/>
              <a:gd name="csY26" fmla="*/ 5722227 h 5722227"/>
              <a:gd name="csX27" fmla="*/ 8771566 w 11040872"/>
              <a:gd name="csY27" fmla="*/ 5722227 h 5722227"/>
              <a:gd name="csX28" fmla="*/ 8114772 w 11040872"/>
              <a:gd name="csY28" fmla="*/ 5722227 h 5722227"/>
              <a:gd name="csX29" fmla="*/ 7556497 w 11040872"/>
              <a:gd name="csY29" fmla="*/ 5722227 h 5722227"/>
              <a:gd name="csX30" fmla="*/ 6998222 w 11040872"/>
              <a:gd name="csY30" fmla="*/ 5722227 h 5722227"/>
              <a:gd name="csX31" fmla="*/ 6439947 w 11040872"/>
              <a:gd name="csY31" fmla="*/ 5722227 h 5722227"/>
              <a:gd name="csX32" fmla="*/ 6078711 w 11040872"/>
              <a:gd name="csY32" fmla="*/ 5722227 h 5722227"/>
              <a:gd name="csX33" fmla="*/ 5224879 w 11040872"/>
              <a:gd name="csY33" fmla="*/ 5722227 h 5722227"/>
              <a:gd name="csX34" fmla="*/ 4371047 w 11040872"/>
              <a:gd name="csY34" fmla="*/ 5722227 h 5722227"/>
              <a:gd name="csX35" fmla="*/ 4009810 w 11040872"/>
              <a:gd name="csY35" fmla="*/ 5722227 h 5722227"/>
              <a:gd name="csX36" fmla="*/ 3550054 w 11040872"/>
              <a:gd name="csY36" fmla="*/ 5722227 h 5722227"/>
              <a:gd name="csX37" fmla="*/ 2893261 w 11040872"/>
              <a:gd name="csY37" fmla="*/ 5722227 h 5722227"/>
              <a:gd name="csX38" fmla="*/ 2137948 w 11040872"/>
              <a:gd name="csY38" fmla="*/ 5722227 h 5722227"/>
              <a:gd name="csX39" fmla="*/ 1579673 w 11040872"/>
              <a:gd name="csY39" fmla="*/ 5722227 h 5722227"/>
              <a:gd name="csX40" fmla="*/ 594482 w 11040872"/>
              <a:gd name="csY40" fmla="*/ 5722227 h 5722227"/>
              <a:gd name="csX41" fmla="*/ 0 w 11040872"/>
              <a:gd name="csY41" fmla="*/ 5127745 h 5722227"/>
              <a:gd name="csX42" fmla="*/ 0 w 11040872"/>
              <a:gd name="csY42" fmla="*/ 4389471 h 5722227"/>
              <a:gd name="csX43" fmla="*/ 0 w 11040872"/>
              <a:gd name="csY43" fmla="*/ 3787194 h 5722227"/>
              <a:gd name="csX44" fmla="*/ 0 w 11040872"/>
              <a:gd name="csY44" fmla="*/ 3139585 h 5722227"/>
              <a:gd name="csX45" fmla="*/ 0 w 11040872"/>
              <a:gd name="csY45" fmla="*/ 2582642 h 5722227"/>
              <a:gd name="csX46" fmla="*/ 0 w 11040872"/>
              <a:gd name="csY46" fmla="*/ 1844367 h 5722227"/>
              <a:gd name="csX47" fmla="*/ 0 w 11040872"/>
              <a:gd name="csY47" fmla="*/ 1332756 h 5722227"/>
              <a:gd name="csX48" fmla="*/ 0 w 11040872"/>
              <a:gd name="csY48" fmla="*/ 594482 h 57222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11040872" h="5722227" fill="none" extrusionOk="0">
                <a:moveTo>
                  <a:pt x="0" y="594482"/>
                </a:moveTo>
                <a:cubicBezTo>
                  <a:pt x="15746" y="210853"/>
                  <a:pt x="238566" y="-49047"/>
                  <a:pt x="594482" y="0"/>
                </a:cubicBezTo>
                <a:cubicBezTo>
                  <a:pt x="794518" y="-29056"/>
                  <a:pt x="1056835" y="31998"/>
                  <a:pt x="1448314" y="0"/>
                </a:cubicBezTo>
                <a:cubicBezTo>
                  <a:pt x="1839793" y="-31998"/>
                  <a:pt x="1717857" y="10568"/>
                  <a:pt x="1908070" y="0"/>
                </a:cubicBezTo>
                <a:cubicBezTo>
                  <a:pt x="2098283" y="-10568"/>
                  <a:pt x="2377757" y="-10377"/>
                  <a:pt x="2564864" y="0"/>
                </a:cubicBezTo>
                <a:cubicBezTo>
                  <a:pt x="2751971" y="10377"/>
                  <a:pt x="3048766" y="25570"/>
                  <a:pt x="3320177" y="0"/>
                </a:cubicBezTo>
                <a:cubicBezTo>
                  <a:pt x="3591588" y="-25570"/>
                  <a:pt x="3890997" y="-35762"/>
                  <a:pt x="4174009" y="0"/>
                </a:cubicBezTo>
                <a:cubicBezTo>
                  <a:pt x="4457021" y="35762"/>
                  <a:pt x="4687341" y="20239"/>
                  <a:pt x="4929322" y="0"/>
                </a:cubicBezTo>
                <a:cubicBezTo>
                  <a:pt x="5171303" y="-20239"/>
                  <a:pt x="5520807" y="-10743"/>
                  <a:pt x="5783154" y="0"/>
                </a:cubicBezTo>
                <a:cubicBezTo>
                  <a:pt x="6045501" y="10743"/>
                  <a:pt x="6171473" y="-14245"/>
                  <a:pt x="6538466" y="0"/>
                </a:cubicBezTo>
                <a:cubicBezTo>
                  <a:pt x="6905459" y="14245"/>
                  <a:pt x="6859386" y="-15798"/>
                  <a:pt x="6998222" y="0"/>
                </a:cubicBezTo>
                <a:cubicBezTo>
                  <a:pt x="7137058" y="15798"/>
                  <a:pt x="7493034" y="17684"/>
                  <a:pt x="7753535" y="0"/>
                </a:cubicBezTo>
                <a:cubicBezTo>
                  <a:pt x="8014036" y="-17684"/>
                  <a:pt x="8093734" y="-5742"/>
                  <a:pt x="8311810" y="0"/>
                </a:cubicBezTo>
                <a:cubicBezTo>
                  <a:pt x="8529886" y="5742"/>
                  <a:pt x="8549001" y="8497"/>
                  <a:pt x="8771566" y="0"/>
                </a:cubicBezTo>
                <a:cubicBezTo>
                  <a:pt x="8994131" y="-8497"/>
                  <a:pt x="8987828" y="-849"/>
                  <a:pt x="9132802" y="0"/>
                </a:cubicBezTo>
                <a:cubicBezTo>
                  <a:pt x="9277776" y="849"/>
                  <a:pt x="9415114" y="-11551"/>
                  <a:pt x="9592558" y="0"/>
                </a:cubicBezTo>
                <a:cubicBezTo>
                  <a:pt x="9770002" y="11551"/>
                  <a:pt x="10181650" y="-41772"/>
                  <a:pt x="10446390" y="0"/>
                </a:cubicBezTo>
                <a:cubicBezTo>
                  <a:pt x="10835046" y="-41554"/>
                  <a:pt x="11056788" y="252696"/>
                  <a:pt x="11040872" y="594482"/>
                </a:cubicBezTo>
                <a:cubicBezTo>
                  <a:pt x="11043504" y="949757"/>
                  <a:pt x="11021866" y="1151453"/>
                  <a:pt x="11040872" y="1332756"/>
                </a:cubicBezTo>
                <a:cubicBezTo>
                  <a:pt x="11059878" y="1514059"/>
                  <a:pt x="11068100" y="1802860"/>
                  <a:pt x="11040872" y="2071031"/>
                </a:cubicBezTo>
                <a:cubicBezTo>
                  <a:pt x="11013644" y="2339203"/>
                  <a:pt x="11032418" y="2442705"/>
                  <a:pt x="11040872" y="2627974"/>
                </a:cubicBezTo>
                <a:cubicBezTo>
                  <a:pt x="11049326" y="2813243"/>
                  <a:pt x="11063609" y="3012513"/>
                  <a:pt x="11040872" y="3366249"/>
                </a:cubicBezTo>
                <a:cubicBezTo>
                  <a:pt x="11018135" y="3719985"/>
                  <a:pt x="11016901" y="3727349"/>
                  <a:pt x="11040872" y="3923192"/>
                </a:cubicBezTo>
                <a:cubicBezTo>
                  <a:pt x="11064843" y="4119035"/>
                  <a:pt x="11006950" y="4790605"/>
                  <a:pt x="11040872" y="5127745"/>
                </a:cubicBezTo>
                <a:cubicBezTo>
                  <a:pt x="11056495" y="5431543"/>
                  <a:pt x="10805033" y="5712114"/>
                  <a:pt x="10446390" y="5722227"/>
                </a:cubicBezTo>
                <a:cubicBezTo>
                  <a:pt x="10354097" y="5715080"/>
                  <a:pt x="10214750" y="5743729"/>
                  <a:pt x="9986634" y="5722227"/>
                </a:cubicBezTo>
                <a:cubicBezTo>
                  <a:pt x="9758518" y="5700725"/>
                  <a:pt x="9314174" y="5689111"/>
                  <a:pt x="9132802" y="5722227"/>
                </a:cubicBezTo>
                <a:cubicBezTo>
                  <a:pt x="8951430" y="5755343"/>
                  <a:pt x="8857182" y="5714580"/>
                  <a:pt x="8771566" y="5722227"/>
                </a:cubicBezTo>
                <a:cubicBezTo>
                  <a:pt x="8685950" y="5729874"/>
                  <a:pt x="8346042" y="5748953"/>
                  <a:pt x="8114772" y="5722227"/>
                </a:cubicBezTo>
                <a:cubicBezTo>
                  <a:pt x="7883502" y="5695501"/>
                  <a:pt x="7746868" y="5746487"/>
                  <a:pt x="7556497" y="5722227"/>
                </a:cubicBezTo>
                <a:cubicBezTo>
                  <a:pt x="7366127" y="5697967"/>
                  <a:pt x="7202924" y="5748709"/>
                  <a:pt x="6998222" y="5722227"/>
                </a:cubicBezTo>
                <a:cubicBezTo>
                  <a:pt x="6793521" y="5695745"/>
                  <a:pt x="6669169" y="5749243"/>
                  <a:pt x="6439947" y="5722227"/>
                </a:cubicBezTo>
                <a:cubicBezTo>
                  <a:pt x="6210725" y="5695211"/>
                  <a:pt x="6188382" y="5721246"/>
                  <a:pt x="6078711" y="5722227"/>
                </a:cubicBezTo>
                <a:cubicBezTo>
                  <a:pt x="5969040" y="5723208"/>
                  <a:pt x="5527862" y="5683728"/>
                  <a:pt x="5224879" y="5722227"/>
                </a:cubicBezTo>
                <a:cubicBezTo>
                  <a:pt x="4921896" y="5760726"/>
                  <a:pt x="4729422" y="5692801"/>
                  <a:pt x="4371047" y="5722227"/>
                </a:cubicBezTo>
                <a:cubicBezTo>
                  <a:pt x="4012672" y="5751653"/>
                  <a:pt x="4105017" y="5723347"/>
                  <a:pt x="4009810" y="5722227"/>
                </a:cubicBezTo>
                <a:cubicBezTo>
                  <a:pt x="3914603" y="5721107"/>
                  <a:pt x="3645009" y="5723324"/>
                  <a:pt x="3550054" y="5722227"/>
                </a:cubicBezTo>
                <a:cubicBezTo>
                  <a:pt x="3455099" y="5721130"/>
                  <a:pt x="3124597" y="5727159"/>
                  <a:pt x="2893261" y="5722227"/>
                </a:cubicBezTo>
                <a:cubicBezTo>
                  <a:pt x="2661925" y="5717295"/>
                  <a:pt x="2343077" y="5701539"/>
                  <a:pt x="2137948" y="5722227"/>
                </a:cubicBezTo>
                <a:cubicBezTo>
                  <a:pt x="1932819" y="5742915"/>
                  <a:pt x="1693233" y="5733214"/>
                  <a:pt x="1579673" y="5722227"/>
                </a:cubicBezTo>
                <a:cubicBezTo>
                  <a:pt x="1466114" y="5711240"/>
                  <a:pt x="1044435" y="5724184"/>
                  <a:pt x="594482" y="5722227"/>
                </a:cubicBezTo>
                <a:cubicBezTo>
                  <a:pt x="328734" y="5686479"/>
                  <a:pt x="-66657" y="5424823"/>
                  <a:pt x="0" y="5127745"/>
                </a:cubicBezTo>
                <a:cubicBezTo>
                  <a:pt x="-35087" y="4972394"/>
                  <a:pt x="-19370" y="4652638"/>
                  <a:pt x="0" y="4389471"/>
                </a:cubicBezTo>
                <a:cubicBezTo>
                  <a:pt x="19370" y="4126304"/>
                  <a:pt x="-21113" y="3933106"/>
                  <a:pt x="0" y="3787194"/>
                </a:cubicBezTo>
                <a:cubicBezTo>
                  <a:pt x="21113" y="3641282"/>
                  <a:pt x="19216" y="3402544"/>
                  <a:pt x="0" y="3139585"/>
                </a:cubicBezTo>
                <a:cubicBezTo>
                  <a:pt x="-19216" y="2876626"/>
                  <a:pt x="-14413" y="2787638"/>
                  <a:pt x="0" y="2582642"/>
                </a:cubicBezTo>
                <a:cubicBezTo>
                  <a:pt x="14413" y="2377646"/>
                  <a:pt x="33464" y="2134599"/>
                  <a:pt x="0" y="1844367"/>
                </a:cubicBezTo>
                <a:cubicBezTo>
                  <a:pt x="-33464" y="1554136"/>
                  <a:pt x="25477" y="1493251"/>
                  <a:pt x="0" y="1332756"/>
                </a:cubicBezTo>
                <a:cubicBezTo>
                  <a:pt x="-25477" y="1172261"/>
                  <a:pt x="17540" y="876667"/>
                  <a:pt x="0" y="594482"/>
                </a:cubicBezTo>
                <a:close/>
              </a:path>
              <a:path w="11040872" h="5722227" stroke="0" extrusionOk="0">
                <a:moveTo>
                  <a:pt x="0" y="594482"/>
                </a:moveTo>
                <a:cubicBezTo>
                  <a:pt x="-37935" y="242760"/>
                  <a:pt x="194077" y="27054"/>
                  <a:pt x="594482" y="0"/>
                </a:cubicBezTo>
                <a:cubicBezTo>
                  <a:pt x="773932" y="-24550"/>
                  <a:pt x="1057890" y="25913"/>
                  <a:pt x="1448314" y="0"/>
                </a:cubicBezTo>
                <a:cubicBezTo>
                  <a:pt x="1838738" y="-25913"/>
                  <a:pt x="1797328" y="9502"/>
                  <a:pt x="2006589" y="0"/>
                </a:cubicBezTo>
                <a:cubicBezTo>
                  <a:pt x="2215851" y="-9502"/>
                  <a:pt x="2305839" y="-2636"/>
                  <a:pt x="2466345" y="0"/>
                </a:cubicBezTo>
                <a:cubicBezTo>
                  <a:pt x="2626851" y="2636"/>
                  <a:pt x="3037147" y="20740"/>
                  <a:pt x="3221657" y="0"/>
                </a:cubicBezTo>
                <a:cubicBezTo>
                  <a:pt x="3406167" y="-20740"/>
                  <a:pt x="3611889" y="-6653"/>
                  <a:pt x="3779932" y="0"/>
                </a:cubicBezTo>
                <a:cubicBezTo>
                  <a:pt x="3947975" y="6653"/>
                  <a:pt x="4422439" y="33567"/>
                  <a:pt x="4633764" y="0"/>
                </a:cubicBezTo>
                <a:cubicBezTo>
                  <a:pt x="4845089" y="-33567"/>
                  <a:pt x="4901367" y="-8717"/>
                  <a:pt x="5093520" y="0"/>
                </a:cubicBezTo>
                <a:cubicBezTo>
                  <a:pt x="5285673" y="8717"/>
                  <a:pt x="5570621" y="653"/>
                  <a:pt x="5947352" y="0"/>
                </a:cubicBezTo>
                <a:cubicBezTo>
                  <a:pt x="6324083" y="-653"/>
                  <a:pt x="6209930" y="13850"/>
                  <a:pt x="6308589" y="0"/>
                </a:cubicBezTo>
                <a:cubicBezTo>
                  <a:pt x="6407248" y="-13850"/>
                  <a:pt x="6752695" y="30990"/>
                  <a:pt x="6965383" y="0"/>
                </a:cubicBezTo>
                <a:cubicBezTo>
                  <a:pt x="7178071" y="-30990"/>
                  <a:pt x="7443480" y="-17327"/>
                  <a:pt x="7622176" y="0"/>
                </a:cubicBezTo>
                <a:cubicBezTo>
                  <a:pt x="7800872" y="17327"/>
                  <a:pt x="7990906" y="27729"/>
                  <a:pt x="8180451" y="0"/>
                </a:cubicBezTo>
                <a:cubicBezTo>
                  <a:pt x="8369996" y="-27729"/>
                  <a:pt x="8845868" y="-13192"/>
                  <a:pt x="9034283" y="0"/>
                </a:cubicBezTo>
                <a:cubicBezTo>
                  <a:pt x="9222698" y="13192"/>
                  <a:pt x="9517603" y="-10499"/>
                  <a:pt x="9888115" y="0"/>
                </a:cubicBezTo>
                <a:cubicBezTo>
                  <a:pt x="10258627" y="10499"/>
                  <a:pt x="10316781" y="14930"/>
                  <a:pt x="10446390" y="0"/>
                </a:cubicBezTo>
                <a:cubicBezTo>
                  <a:pt x="10718440" y="-53019"/>
                  <a:pt x="11013962" y="225931"/>
                  <a:pt x="11040872" y="594482"/>
                </a:cubicBezTo>
                <a:cubicBezTo>
                  <a:pt x="11043451" y="904574"/>
                  <a:pt x="11020776" y="1089158"/>
                  <a:pt x="11040872" y="1287424"/>
                </a:cubicBezTo>
                <a:cubicBezTo>
                  <a:pt x="11060968" y="1485690"/>
                  <a:pt x="11051926" y="1673788"/>
                  <a:pt x="11040872" y="1799035"/>
                </a:cubicBezTo>
                <a:cubicBezTo>
                  <a:pt x="11029818" y="1924282"/>
                  <a:pt x="11054623" y="2135970"/>
                  <a:pt x="11040872" y="2355978"/>
                </a:cubicBezTo>
                <a:cubicBezTo>
                  <a:pt x="11027121" y="2575986"/>
                  <a:pt x="11013030" y="2749477"/>
                  <a:pt x="11040872" y="3094253"/>
                </a:cubicBezTo>
                <a:cubicBezTo>
                  <a:pt x="11068714" y="3439030"/>
                  <a:pt x="11029506" y="3525085"/>
                  <a:pt x="11040872" y="3741862"/>
                </a:cubicBezTo>
                <a:cubicBezTo>
                  <a:pt x="11052238" y="3958639"/>
                  <a:pt x="11021397" y="4116679"/>
                  <a:pt x="11040872" y="4298805"/>
                </a:cubicBezTo>
                <a:cubicBezTo>
                  <a:pt x="11060347" y="4480931"/>
                  <a:pt x="11022539" y="4900124"/>
                  <a:pt x="11040872" y="5127745"/>
                </a:cubicBezTo>
                <a:cubicBezTo>
                  <a:pt x="10974688" y="5452322"/>
                  <a:pt x="10793932" y="5738773"/>
                  <a:pt x="10446390" y="5722227"/>
                </a:cubicBezTo>
                <a:cubicBezTo>
                  <a:pt x="10272062" y="5749271"/>
                  <a:pt x="10063650" y="5719054"/>
                  <a:pt x="9789596" y="5722227"/>
                </a:cubicBezTo>
                <a:cubicBezTo>
                  <a:pt x="9515542" y="5725400"/>
                  <a:pt x="9521222" y="5705365"/>
                  <a:pt x="9329840" y="5722227"/>
                </a:cubicBezTo>
                <a:cubicBezTo>
                  <a:pt x="9138458" y="5739089"/>
                  <a:pt x="8905417" y="5705714"/>
                  <a:pt x="8574527" y="5722227"/>
                </a:cubicBezTo>
                <a:cubicBezTo>
                  <a:pt x="8243637" y="5738740"/>
                  <a:pt x="8277624" y="5741955"/>
                  <a:pt x="8114772" y="5722227"/>
                </a:cubicBezTo>
                <a:cubicBezTo>
                  <a:pt x="7951921" y="5702499"/>
                  <a:pt x="7640420" y="5738357"/>
                  <a:pt x="7359459" y="5722227"/>
                </a:cubicBezTo>
                <a:cubicBezTo>
                  <a:pt x="7078498" y="5706097"/>
                  <a:pt x="7122500" y="5736206"/>
                  <a:pt x="6998222" y="5722227"/>
                </a:cubicBezTo>
                <a:cubicBezTo>
                  <a:pt x="6873944" y="5708248"/>
                  <a:pt x="6584762" y="5737766"/>
                  <a:pt x="6242909" y="5722227"/>
                </a:cubicBezTo>
                <a:cubicBezTo>
                  <a:pt x="5901056" y="5706688"/>
                  <a:pt x="5911118" y="5710812"/>
                  <a:pt x="5783154" y="5722227"/>
                </a:cubicBezTo>
                <a:cubicBezTo>
                  <a:pt x="5655191" y="5733642"/>
                  <a:pt x="5585023" y="5732166"/>
                  <a:pt x="5421917" y="5722227"/>
                </a:cubicBezTo>
                <a:cubicBezTo>
                  <a:pt x="5258811" y="5712288"/>
                  <a:pt x="5178725" y="5705468"/>
                  <a:pt x="4962161" y="5722227"/>
                </a:cubicBezTo>
                <a:cubicBezTo>
                  <a:pt x="4745597" y="5738986"/>
                  <a:pt x="4430318" y="5744224"/>
                  <a:pt x="4206848" y="5722227"/>
                </a:cubicBezTo>
                <a:cubicBezTo>
                  <a:pt x="3983378" y="5700230"/>
                  <a:pt x="3911697" y="5735058"/>
                  <a:pt x="3747093" y="5722227"/>
                </a:cubicBezTo>
                <a:cubicBezTo>
                  <a:pt x="3582489" y="5709396"/>
                  <a:pt x="3545682" y="5704593"/>
                  <a:pt x="3385856" y="5722227"/>
                </a:cubicBezTo>
                <a:cubicBezTo>
                  <a:pt x="3226030" y="5739861"/>
                  <a:pt x="3029507" y="5730116"/>
                  <a:pt x="2926100" y="5722227"/>
                </a:cubicBezTo>
                <a:cubicBezTo>
                  <a:pt x="2822693" y="5714338"/>
                  <a:pt x="2554822" y="5699610"/>
                  <a:pt x="2367825" y="5722227"/>
                </a:cubicBezTo>
                <a:cubicBezTo>
                  <a:pt x="2180829" y="5744844"/>
                  <a:pt x="2002855" y="5738254"/>
                  <a:pt x="1711032" y="5722227"/>
                </a:cubicBezTo>
                <a:cubicBezTo>
                  <a:pt x="1419209" y="5706200"/>
                  <a:pt x="1407274" y="5738383"/>
                  <a:pt x="1251276" y="5722227"/>
                </a:cubicBezTo>
                <a:cubicBezTo>
                  <a:pt x="1095278" y="5706071"/>
                  <a:pt x="872658" y="5717760"/>
                  <a:pt x="594482" y="5722227"/>
                </a:cubicBezTo>
                <a:cubicBezTo>
                  <a:pt x="253293" y="5699246"/>
                  <a:pt x="-22323" y="5466443"/>
                  <a:pt x="0" y="5127745"/>
                </a:cubicBezTo>
                <a:cubicBezTo>
                  <a:pt x="-23138" y="4892853"/>
                  <a:pt x="-21399" y="4758867"/>
                  <a:pt x="0" y="4616134"/>
                </a:cubicBezTo>
                <a:cubicBezTo>
                  <a:pt x="21399" y="4473401"/>
                  <a:pt x="-2392" y="4140718"/>
                  <a:pt x="0" y="4013858"/>
                </a:cubicBezTo>
                <a:cubicBezTo>
                  <a:pt x="2392" y="3886998"/>
                  <a:pt x="-9073" y="3524231"/>
                  <a:pt x="0" y="3320916"/>
                </a:cubicBezTo>
                <a:cubicBezTo>
                  <a:pt x="9073" y="3117601"/>
                  <a:pt x="-20614" y="2922972"/>
                  <a:pt x="0" y="2763972"/>
                </a:cubicBezTo>
                <a:cubicBezTo>
                  <a:pt x="20614" y="2604972"/>
                  <a:pt x="5751" y="2418545"/>
                  <a:pt x="0" y="2116363"/>
                </a:cubicBezTo>
                <a:cubicBezTo>
                  <a:pt x="-5751" y="1814181"/>
                  <a:pt x="-23336" y="1771268"/>
                  <a:pt x="0" y="1604752"/>
                </a:cubicBezTo>
                <a:cubicBezTo>
                  <a:pt x="23336" y="1438236"/>
                  <a:pt x="-35446" y="1063211"/>
                  <a:pt x="0" y="594482"/>
                </a:cubicBezTo>
                <a:close/>
              </a:path>
            </a:pathLst>
          </a:custGeom>
          <a:solidFill>
            <a:schemeClr val="accent1"/>
          </a:solidFill>
          <a:ln w="25400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10389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D9FEB4-9742-A73C-05BE-343DEFBD8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1467" y="887973"/>
            <a:ext cx="9889067" cy="1325563"/>
          </a:xfrm>
        </p:spPr>
        <p:txBody>
          <a:bodyPr>
            <a:normAutofit/>
          </a:bodyPr>
          <a:lstStyle/>
          <a:p>
            <a:r>
              <a:rPr lang="en-IN" sz="6600">
                <a:solidFill>
                  <a:schemeClr val="bg1"/>
                </a:solidFill>
              </a:rPr>
              <a:t>Technology &amp; AI Stack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7E5B0F-5185-440A-8222-321C1D118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092" y="2325880"/>
            <a:ext cx="9957816" cy="18288"/>
          </a:xfrm>
          <a:custGeom>
            <a:avLst/>
            <a:gdLst>
              <a:gd name="csX0" fmla="*/ 0 w 9957816"/>
              <a:gd name="csY0" fmla="*/ 0 h 18288"/>
              <a:gd name="csX1" fmla="*/ 863011 w 9957816"/>
              <a:gd name="csY1" fmla="*/ 0 h 18288"/>
              <a:gd name="csX2" fmla="*/ 1327709 w 9957816"/>
              <a:gd name="csY2" fmla="*/ 0 h 18288"/>
              <a:gd name="csX3" fmla="*/ 2091141 w 9957816"/>
              <a:gd name="csY3" fmla="*/ 0 h 18288"/>
              <a:gd name="csX4" fmla="*/ 2555839 w 9957816"/>
              <a:gd name="csY4" fmla="*/ 0 h 18288"/>
              <a:gd name="csX5" fmla="*/ 3219694 w 9957816"/>
              <a:gd name="csY5" fmla="*/ 0 h 18288"/>
              <a:gd name="csX6" fmla="*/ 3983126 w 9957816"/>
              <a:gd name="csY6" fmla="*/ 0 h 18288"/>
              <a:gd name="csX7" fmla="*/ 4348246 w 9957816"/>
              <a:gd name="csY7" fmla="*/ 0 h 18288"/>
              <a:gd name="csX8" fmla="*/ 4713366 w 9957816"/>
              <a:gd name="csY8" fmla="*/ 0 h 18288"/>
              <a:gd name="csX9" fmla="*/ 5576377 w 9957816"/>
              <a:gd name="csY9" fmla="*/ 0 h 18288"/>
              <a:gd name="csX10" fmla="*/ 6240231 w 9957816"/>
              <a:gd name="csY10" fmla="*/ 0 h 18288"/>
              <a:gd name="csX11" fmla="*/ 6605351 w 9957816"/>
              <a:gd name="csY11" fmla="*/ 0 h 18288"/>
              <a:gd name="csX12" fmla="*/ 7269206 w 9957816"/>
              <a:gd name="csY12" fmla="*/ 0 h 18288"/>
              <a:gd name="csX13" fmla="*/ 8132216 w 9957816"/>
              <a:gd name="csY13" fmla="*/ 0 h 18288"/>
              <a:gd name="csX14" fmla="*/ 8696493 w 9957816"/>
              <a:gd name="csY14" fmla="*/ 0 h 18288"/>
              <a:gd name="csX15" fmla="*/ 9260769 w 9957816"/>
              <a:gd name="csY15" fmla="*/ 0 h 18288"/>
              <a:gd name="csX16" fmla="*/ 9957816 w 9957816"/>
              <a:gd name="csY16" fmla="*/ 0 h 18288"/>
              <a:gd name="csX17" fmla="*/ 9957816 w 9957816"/>
              <a:gd name="csY17" fmla="*/ 18288 h 18288"/>
              <a:gd name="csX18" fmla="*/ 9293962 w 9957816"/>
              <a:gd name="csY18" fmla="*/ 18288 h 18288"/>
              <a:gd name="csX19" fmla="*/ 8530529 w 9957816"/>
              <a:gd name="csY19" fmla="*/ 18288 h 18288"/>
              <a:gd name="csX20" fmla="*/ 7767096 w 9957816"/>
              <a:gd name="csY20" fmla="*/ 18288 h 18288"/>
              <a:gd name="csX21" fmla="*/ 7302398 w 9957816"/>
              <a:gd name="csY21" fmla="*/ 18288 h 18288"/>
              <a:gd name="csX22" fmla="*/ 6439388 w 9957816"/>
              <a:gd name="csY22" fmla="*/ 18288 h 18288"/>
              <a:gd name="csX23" fmla="*/ 5775533 w 9957816"/>
              <a:gd name="csY23" fmla="*/ 18288 h 18288"/>
              <a:gd name="csX24" fmla="*/ 5410413 w 9957816"/>
              <a:gd name="csY24" fmla="*/ 18288 h 18288"/>
              <a:gd name="csX25" fmla="*/ 4746559 w 9957816"/>
              <a:gd name="csY25" fmla="*/ 18288 h 18288"/>
              <a:gd name="csX26" fmla="*/ 4182283 w 9957816"/>
              <a:gd name="csY26" fmla="*/ 18288 h 18288"/>
              <a:gd name="csX27" fmla="*/ 3618006 w 9957816"/>
              <a:gd name="csY27" fmla="*/ 18288 h 18288"/>
              <a:gd name="csX28" fmla="*/ 3053730 w 9957816"/>
              <a:gd name="csY28" fmla="*/ 18288 h 18288"/>
              <a:gd name="csX29" fmla="*/ 2489454 w 9957816"/>
              <a:gd name="csY29" fmla="*/ 18288 h 18288"/>
              <a:gd name="csX30" fmla="*/ 1726021 w 9957816"/>
              <a:gd name="csY30" fmla="*/ 18288 h 18288"/>
              <a:gd name="csX31" fmla="*/ 1062167 w 9957816"/>
              <a:gd name="csY31" fmla="*/ 18288 h 18288"/>
              <a:gd name="csX32" fmla="*/ 697047 w 9957816"/>
              <a:gd name="csY32" fmla="*/ 18288 h 18288"/>
              <a:gd name="csX33" fmla="*/ 0 w 9957816"/>
              <a:gd name="csY33" fmla="*/ 18288 h 18288"/>
              <a:gd name="csX34" fmla="*/ 0 w 9957816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9957816" h="18288" fill="none" extrusionOk="0">
                <a:moveTo>
                  <a:pt x="0" y="0"/>
                </a:moveTo>
                <a:cubicBezTo>
                  <a:pt x="258912" y="4528"/>
                  <a:pt x="602792" y="35413"/>
                  <a:pt x="863011" y="0"/>
                </a:cubicBezTo>
                <a:cubicBezTo>
                  <a:pt x="1123230" y="-35413"/>
                  <a:pt x="1110743" y="8950"/>
                  <a:pt x="1327709" y="0"/>
                </a:cubicBezTo>
                <a:cubicBezTo>
                  <a:pt x="1544675" y="-8950"/>
                  <a:pt x="1720121" y="-30004"/>
                  <a:pt x="2091141" y="0"/>
                </a:cubicBezTo>
                <a:cubicBezTo>
                  <a:pt x="2462161" y="30004"/>
                  <a:pt x="2325710" y="-22120"/>
                  <a:pt x="2555839" y="0"/>
                </a:cubicBezTo>
                <a:cubicBezTo>
                  <a:pt x="2785968" y="22120"/>
                  <a:pt x="2943172" y="14890"/>
                  <a:pt x="3219694" y="0"/>
                </a:cubicBezTo>
                <a:cubicBezTo>
                  <a:pt x="3496216" y="-14890"/>
                  <a:pt x="3789247" y="-1477"/>
                  <a:pt x="3983126" y="0"/>
                </a:cubicBezTo>
                <a:cubicBezTo>
                  <a:pt x="4177005" y="1477"/>
                  <a:pt x="4180112" y="16397"/>
                  <a:pt x="4348246" y="0"/>
                </a:cubicBezTo>
                <a:cubicBezTo>
                  <a:pt x="4516380" y="-16397"/>
                  <a:pt x="4601818" y="4117"/>
                  <a:pt x="4713366" y="0"/>
                </a:cubicBezTo>
                <a:cubicBezTo>
                  <a:pt x="4824914" y="-4117"/>
                  <a:pt x="5400642" y="663"/>
                  <a:pt x="5576377" y="0"/>
                </a:cubicBezTo>
                <a:cubicBezTo>
                  <a:pt x="5752112" y="-663"/>
                  <a:pt x="6036350" y="11452"/>
                  <a:pt x="6240231" y="0"/>
                </a:cubicBezTo>
                <a:cubicBezTo>
                  <a:pt x="6444112" y="-11452"/>
                  <a:pt x="6508667" y="-15154"/>
                  <a:pt x="6605351" y="0"/>
                </a:cubicBezTo>
                <a:cubicBezTo>
                  <a:pt x="6702035" y="15154"/>
                  <a:pt x="7096186" y="19291"/>
                  <a:pt x="7269206" y="0"/>
                </a:cubicBezTo>
                <a:cubicBezTo>
                  <a:pt x="7442227" y="-19291"/>
                  <a:pt x="7802902" y="39720"/>
                  <a:pt x="8132216" y="0"/>
                </a:cubicBezTo>
                <a:cubicBezTo>
                  <a:pt x="8461530" y="-39720"/>
                  <a:pt x="8551221" y="24341"/>
                  <a:pt x="8696493" y="0"/>
                </a:cubicBezTo>
                <a:cubicBezTo>
                  <a:pt x="8841765" y="-24341"/>
                  <a:pt x="9091257" y="15574"/>
                  <a:pt x="9260769" y="0"/>
                </a:cubicBezTo>
                <a:cubicBezTo>
                  <a:pt x="9430281" y="-15574"/>
                  <a:pt x="9809458" y="-15806"/>
                  <a:pt x="9957816" y="0"/>
                </a:cubicBezTo>
                <a:cubicBezTo>
                  <a:pt x="9958154" y="7640"/>
                  <a:pt x="9957366" y="11289"/>
                  <a:pt x="9957816" y="18288"/>
                </a:cubicBezTo>
                <a:cubicBezTo>
                  <a:pt x="9789958" y="23645"/>
                  <a:pt x="9437684" y="-10787"/>
                  <a:pt x="9293962" y="18288"/>
                </a:cubicBezTo>
                <a:cubicBezTo>
                  <a:pt x="9150240" y="47363"/>
                  <a:pt x="8858466" y="6899"/>
                  <a:pt x="8530529" y="18288"/>
                </a:cubicBezTo>
                <a:cubicBezTo>
                  <a:pt x="8202592" y="29677"/>
                  <a:pt x="8042036" y="-12845"/>
                  <a:pt x="7767096" y="18288"/>
                </a:cubicBezTo>
                <a:cubicBezTo>
                  <a:pt x="7492156" y="49421"/>
                  <a:pt x="7464764" y="38557"/>
                  <a:pt x="7302398" y="18288"/>
                </a:cubicBezTo>
                <a:cubicBezTo>
                  <a:pt x="7140032" y="-1981"/>
                  <a:pt x="6674139" y="-20177"/>
                  <a:pt x="6439388" y="18288"/>
                </a:cubicBezTo>
                <a:cubicBezTo>
                  <a:pt x="6204637" y="56753"/>
                  <a:pt x="6044763" y="2398"/>
                  <a:pt x="5775533" y="18288"/>
                </a:cubicBezTo>
                <a:cubicBezTo>
                  <a:pt x="5506303" y="34178"/>
                  <a:pt x="5528640" y="8636"/>
                  <a:pt x="5410413" y="18288"/>
                </a:cubicBezTo>
                <a:cubicBezTo>
                  <a:pt x="5292186" y="27940"/>
                  <a:pt x="4880771" y="-3659"/>
                  <a:pt x="4746559" y="18288"/>
                </a:cubicBezTo>
                <a:cubicBezTo>
                  <a:pt x="4612347" y="40235"/>
                  <a:pt x="4346390" y="46329"/>
                  <a:pt x="4182283" y="18288"/>
                </a:cubicBezTo>
                <a:cubicBezTo>
                  <a:pt x="4018176" y="-9753"/>
                  <a:pt x="3743247" y="40654"/>
                  <a:pt x="3618006" y="18288"/>
                </a:cubicBezTo>
                <a:cubicBezTo>
                  <a:pt x="3492765" y="-4078"/>
                  <a:pt x="3201495" y="15624"/>
                  <a:pt x="3053730" y="18288"/>
                </a:cubicBezTo>
                <a:cubicBezTo>
                  <a:pt x="2905965" y="20952"/>
                  <a:pt x="2770855" y="10382"/>
                  <a:pt x="2489454" y="18288"/>
                </a:cubicBezTo>
                <a:cubicBezTo>
                  <a:pt x="2208053" y="26194"/>
                  <a:pt x="1999579" y="12705"/>
                  <a:pt x="1726021" y="18288"/>
                </a:cubicBezTo>
                <a:cubicBezTo>
                  <a:pt x="1452463" y="23871"/>
                  <a:pt x="1261725" y="2423"/>
                  <a:pt x="1062167" y="18288"/>
                </a:cubicBezTo>
                <a:cubicBezTo>
                  <a:pt x="862609" y="34153"/>
                  <a:pt x="828837" y="34680"/>
                  <a:pt x="697047" y="18288"/>
                </a:cubicBezTo>
                <a:cubicBezTo>
                  <a:pt x="565257" y="1896"/>
                  <a:pt x="290333" y="-12656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9957816" h="18288" stroke="0" extrusionOk="0">
                <a:moveTo>
                  <a:pt x="0" y="0"/>
                </a:moveTo>
                <a:cubicBezTo>
                  <a:pt x="239894" y="-13568"/>
                  <a:pt x="444306" y="20490"/>
                  <a:pt x="564276" y="0"/>
                </a:cubicBezTo>
                <a:cubicBezTo>
                  <a:pt x="684246" y="-20490"/>
                  <a:pt x="829702" y="-16311"/>
                  <a:pt x="929396" y="0"/>
                </a:cubicBezTo>
                <a:cubicBezTo>
                  <a:pt x="1029090" y="16311"/>
                  <a:pt x="1434080" y="4599"/>
                  <a:pt x="1792407" y="0"/>
                </a:cubicBezTo>
                <a:cubicBezTo>
                  <a:pt x="2150734" y="-4599"/>
                  <a:pt x="2230922" y="-3217"/>
                  <a:pt x="2356683" y="0"/>
                </a:cubicBezTo>
                <a:cubicBezTo>
                  <a:pt x="2482444" y="3217"/>
                  <a:pt x="2727176" y="10118"/>
                  <a:pt x="2920959" y="0"/>
                </a:cubicBezTo>
                <a:cubicBezTo>
                  <a:pt x="3114742" y="-10118"/>
                  <a:pt x="3583268" y="6126"/>
                  <a:pt x="3783970" y="0"/>
                </a:cubicBezTo>
                <a:cubicBezTo>
                  <a:pt x="3984672" y="-6126"/>
                  <a:pt x="4119530" y="12121"/>
                  <a:pt x="4248668" y="0"/>
                </a:cubicBezTo>
                <a:cubicBezTo>
                  <a:pt x="4377806" y="-12121"/>
                  <a:pt x="4830370" y="39306"/>
                  <a:pt x="5111679" y="0"/>
                </a:cubicBezTo>
                <a:cubicBezTo>
                  <a:pt x="5392988" y="-39306"/>
                  <a:pt x="5595981" y="-37432"/>
                  <a:pt x="5974690" y="0"/>
                </a:cubicBezTo>
                <a:cubicBezTo>
                  <a:pt x="6353399" y="37432"/>
                  <a:pt x="6382398" y="-32218"/>
                  <a:pt x="6638544" y="0"/>
                </a:cubicBezTo>
                <a:cubicBezTo>
                  <a:pt x="6894690" y="32218"/>
                  <a:pt x="7107197" y="-8479"/>
                  <a:pt x="7501555" y="0"/>
                </a:cubicBezTo>
                <a:cubicBezTo>
                  <a:pt x="7895913" y="8479"/>
                  <a:pt x="7913370" y="-2556"/>
                  <a:pt x="8065831" y="0"/>
                </a:cubicBezTo>
                <a:cubicBezTo>
                  <a:pt x="8218292" y="2556"/>
                  <a:pt x="8391465" y="4509"/>
                  <a:pt x="8630107" y="0"/>
                </a:cubicBezTo>
                <a:cubicBezTo>
                  <a:pt x="8868749" y="-4509"/>
                  <a:pt x="9078381" y="-9348"/>
                  <a:pt x="9393540" y="0"/>
                </a:cubicBezTo>
                <a:cubicBezTo>
                  <a:pt x="9708699" y="9348"/>
                  <a:pt x="9789190" y="-16759"/>
                  <a:pt x="9957816" y="0"/>
                </a:cubicBezTo>
                <a:cubicBezTo>
                  <a:pt x="9957941" y="4395"/>
                  <a:pt x="9957741" y="9776"/>
                  <a:pt x="9957816" y="18288"/>
                </a:cubicBezTo>
                <a:cubicBezTo>
                  <a:pt x="9649812" y="40651"/>
                  <a:pt x="9486007" y="41594"/>
                  <a:pt x="9194383" y="18288"/>
                </a:cubicBezTo>
                <a:cubicBezTo>
                  <a:pt x="8902759" y="-5018"/>
                  <a:pt x="8744094" y="43814"/>
                  <a:pt x="8530529" y="18288"/>
                </a:cubicBezTo>
                <a:cubicBezTo>
                  <a:pt x="8316964" y="-7238"/>
                  <a:pt x="8282371" y="24093"/>
                  <a:pt x="8165409" y="18288"/>
                </a:cubicBezTo>
                <a:cubicBezTo>
                  <a:pt x="8048447" y="12483"/>
                  <a:pt x="7851788" y="12040"/>
                  <a:pt x="7700711" y="18288"/>
                </a:cubicBezTo>
                <a:cubicBezTo>
                  <a:pt x="7549634" y="24536"/>
                  <a:pt x="7127225" y="27915"/>
                  <a:pt x="6837700" y="18288"/>
                </a:cubicBezTo>
                <a:cubicBezTo>
                  <a:pt x="6548175" y="8661"/>
                  <a:pt x="6330711" y="50037"/>
                  <a:pt x="6173846" y="18288"/>
                </a:cubicBezTo>
                <a:cubicBezTo>
                  <a:pt x="6016981" y="-13461"/>
                  <a:pt x="5930031" y="15985"/>
                  <a:pt x="5709148" y="18288"/>
                </a:cubicBezTo>
                <a:cubicBezTo>
                  <a:pt x="5488265" y="20591"/>
                  <a:pt x="5372997" y="43097"/>
                  <a:pt x="5045293" y="18288"/>
                </a:cubicBezTo>
                <a:cubicBezTo>
                  <a:pt x="4717590" y="-6521"/>
                  <a:pt x="4829875" y="6803"/>
                  <a:pt x="4680174" y="18288"/>
                </a:cubicBezTo>
                <a:cubicBezTo>
                  <a:pt x="4530473" y="29773"/>
                  <a:pt x="4441300" y="27030"/>
                  <a:pt x="4315054" y="18288"/>
                </a:cubicBezTo>
                <a:cubicBezTo>
                  <a:pt x="4188808" y="9546"/>
                  <a:pt x="3846162" y="4446"/>
                  <a:pt x="3651199" y="18288"/>
                </a:cubicBezTo>
                <a:cubicBezTo>
                  <a:pt x="3456236" y="32130"/>
                  <a:pt x="3412656" y="-1324"/>
                  <a:pt x="3186501" y="18288"/>
                </a:cubicBezTo>
                <a:cubicBezTo>
                  <a:pt x="2960346" y="37900"/>
                  <a:pt x="2783091" y="19872"/>
                  <a:pt x="2423069" y="18288"/>
                </a:cubicBezTo>
                <a:cubicBezTo>
                  <a:pt x="2063047" y="16704"/>
                  <a:pt x="2066062" y="18692"/>
                  <a:pt x="1958370" y="18288"/>
                </a:cubicBezTo>
                <a:cubicBezTo>
                  <a:pt x="1850678" y="17884"/>
                  <a:pt x="1403255" y="47471"/>
                  <a:pt x="1194938" y="18288"/>
                </a:cubicBezTo>
                <a:cubicBezTo>
                  <a:pt x="986621" y="-10895"/>
                  <a:pt x="986435" y="4670"/>
                  <a:pt x="829818" y="18288"/>
                </a:cubicBezTo>
                <a:cubicBezTo>
                  <a:pt x="673201" y="31906"/>
                  <a:pt x="178831" y="-2639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bg1"/>
          </a:solidFill>
          <a:ln w="38100" cap="rnd">
            <a:solidFill>
              <a:schemeClr val="bg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28595-41FB-83E9-B536-F652B71C1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1467" y="2607733"/>
            <a:ext cx="9889067" cy="3285067"/>
          </a:xfrm>
        </p:spPr>
        <p:txBody>
          <a:bodyPr>
            <a:normAutofit/>
          </a:bodyPr>
          <a:lstStyle/>
          <a:p>
            <a:r>
              <a:rPr lang="en-IN">
                <a:solidFill>
                  <a:schemeClr val="bg1"/>
                </a:solidFill>
              </a:rPr>
              <a:t>• </a:t>
            </a:r>
            <a:r>
              <a:rPr lang="en-IN" b="1">
                <a:solidFill>
                  <a:schemeClr val="bg1"/>
                </a:solidFill>
              </a:rPr>
              <a:t>Python</a:t>
            </a:r>
            <a:r>
              <a:rPr lang="en-IN">
                <a:solidFill>
                  <a:schemeClr val="bg1"/>
                </a:solidFill>
              </a:rPr>
              <a:t> used as the core development language</a:t>
            </a:r>
            <a:br>
              <a:rPr lang="en-IN">
                <a:solidFill>
                  <a:schemeClr val="bg1"/>
                </a:solidFill>
              </a:rPr>
            </a:br>
            <a:r>
              <a:rPr lang="en-IN">
                <a:solidFill>
                  <a:schemeClr val="bg1"/>
                </a:solidFill>
              </a:rPr>
              <a:t>• </a:t>
            </a:r>
            <a:r>
              <a:rPr lang="en-IN" b="1">
                <a:solidFill>
                  <a:schemeClr val="bg1"/>
                </a:solidFill>
              </a:rPr>
              <a:t>LightGBM / XGBoost</a:t>
            </a:r>
            <a:r>
              <a:rPr lang="en-IN">
                <a:solidFill>
                  <a:schemeClr val="bg1"/>
                </a:solidFill>
              </a:rPr>
              <a:t> for accurate file processing time prediction</a:t>
            </a:r>
            <a:br>
              <a:rPr lang="en-IN">
                <a:solidFill>
                  <a:schemeClr val="bg1"/>
                </a:solidFill>
              </a:rPr>
            </a:br>
            <a:r>
              <a:rPr lang="en-IN">
                <a:solidFill>
                  <a:schemeClr val="bg1"/>
                </a:solidFill>
              </a:rPr>
              <a:t>• </a:t>
            </a:r>
            <a:r>
              <a:rPr lang="en-IN" b="1">
                <a:solidFill>
                  <a:schemeClr val="bg1"/>
                </a:solidFill>
              </a:rPr>
              <a:t>Random Forest</a:t>
            </a:r>
            <a:r>
              <a:rPr lang="en-IN">
                <a:solidFill>
                  <a:schemeClr val="bg1"/>
                </a:solidFill>
              </a:rPr>
              <a:t> for classifying delay-prone workflow steps</a:t>
            </a:r>
            <a:br>
              <a:rPr lang="en-IN">
                <a:solidFill>
                  <a:schemeClr val="bg1"/>
                </a:solidFill>
              </a:rPr>
            </a:br>
            <a:r>
              <a:rPr lang="en-IN">
                <a:solidFill>
                  <a:schemeClr val="bg1"/>
                </a:solidFill>
              </a:rPr>
              <a:t>• </a:t>
            </a:r>
            <a:r>
              <a:rPr lang="en-IN" b="1">
                <a:solidFill>
                  <a:schemeClr val="bg1"/>
                </a:solidFill>
              </a:rPr>
              <a:t>FastAPI</a:t>
            </a:r>
            <a:r>
              <a:rPr lang="en-IN">
                <a:solidFill>
                  <a:schemeClr val="bg1"/>
                </a:solidFill>
              </a:rPr>
              <a:t> used to build a fast and scalable backend API</a:t>
            </a:r>
            <a:br>
              <a:rPr lang="en-IN">
                <a:solidFill>
                  <a:schemeClr val="bg1"/>
                </a:solidFill>
              </a:rPr>
            </a:br>
            <a:r>
              <a:rPr lang="en-IN">
                <a:solidFill>
                  <a:schemeClr val="bg1"/>
                </a:solidFill>
              </a:rPr>
              <a:t>• </a:t>
            </a:r>
            <a:r>
              <a:rPr lang="en-IN" b="1">
                <a:solidFill>
                  <a:schemeClr val="bg1"/>
                </a:solidFill>
              </a:rPr>
              <a:t>Streamlit</a:t>
            </a:r>
            <a:r>
              <a:rPr lang="en-IN">
                <a:solidFill>
                  <a:schemeClr val="bg1"/>
                </a:solidFill>
              </a:rPr>
              <a:t> for an interactive and user-friendly dashboard</a:t>
            </a:r>
            <a:br>
              <a:rPr lang="en-IN">
                <a:solidFill>
                  <a:schemeClr val="bg1"/>
                </a:solidFill>
              </a:rPr>
            </a:br>
            <a:r>
              <a:rPr lang="en-IN">
                <a:solidFill>
                  <a:schemeClr val="bg1"/>
                </a:solidFill>
              </a:rPr>
              <a:t>• </a:t>
            </a:r>
            <a:r>
              <a:rPr lang="en-IN" b="1">
                <a:solidFill>
                  <a:schemeClr val="bg1"/>
                </a:solidFill>
              </a:rPr>
              <a:t>Synthetic data</a:t>
            </a:r>
            <a:r>
              <a:rPr lang="en-IN">
                <a:solidFill>
                  <a:schemeClr val="bg1"/>
                </a:solidFill>
              </a:rPr>
              <a:t> generated to train and validate the models</a:t>
            </a:r>
          </a:p>
        </p:txBody>
      </p:sp>
    </p:spTree>
    <p:extLst>
      <p:ext uri="{BB962C8B-B14F-4D97-AF65-F5344CB8AC3E}">
        <p14:creationId xmlns:p14="http://schemas.microsoft.com/office/powerpoint/2010/main" val="2854499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2AB70D-3A76-C8F7-0B88-B8A56F280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419540" cy="5431536"/>
          </a:xfrm>
        </p:spPr>
        <p:txBody>
          <a:bodyPr>
            <a:normAutofit/>
          </a:bodyPr>
          <a:lstStyle/>
          <a:p>
            <a:r>
              <a:rPr lang="en-IN" sz="6000"/>
              <a:t>Impact &amp; Benefits</a:t>
            </a: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39411" y="3254143"/>
            <a:ext cx="4480560" cy="27432"/>
          </a:xfrm>
          <a:custGeom>
            <a:avLst/>
            <a:gdLst>
              <a:gd name="csX0" fmla="*/ 0 w 4480560"/>
              <a:gd name="csY0" fmla="*/ 0 h 27432"/>
              <a:gd name="csX1" fmla="*/ 595274 w 4480560"/>
              <a:gd name="csY1" fmla="*/ 0 h 27432"/>
              <a:gd name="csX2" fmla="*/ 1100938 w 4480560"/>
              <a:gd name="csY2" fmla="*/ 0 h 27432"/>
              <a:gd name="csX3" fmla="*/ 1651406 w 4480560"/>
              <a:gd name="csY3" fmla="*/ 0 h 27432"/>
              <a:gd name="csX4" fmla="*/ 2336292 w 4480560"/>
              <a:gd name="csY4" fmla="*/ 0 h 27432"/>
              <a:gd name="csX5" fmla="*/ 2931566 w 4480560"/>
              <a:gd name="csY5" fmla="*/ 0 h 27432"/>
              <a:gd name="csX6" fmla="*/ 3482035 w 4480560"/>
              <a:gd name="csY6" fmla="*/ 0 h 27432"/>
              <a:gd name="csX7" fmla="*/ 4480560 w 4480560"/>
              <a:gd name="csY7" fmla="*/ 0 h 27432"/>
              <a:gd name="csX8" fmla="*/ 4480560 w 4480560"/>
              <a:gd name="csY8" fmla="*/ 27432 h 27432"/>
              <a:gd name="csX9" fmla="*/ 3840480 w 4480560"/>
              <a:gd name="csY9" fmla="*/ 27432 h 27432"/>
              <a:gd name="csX10" fmla="*/ 3290011 w 4480560"/>
              <a:gd name="csY10" fmla="*/ 27432 h 27432"/>
              <a:gd name="csX11" fmla="*/ 2560320 w 4480560"/>
              <a:gd name="csY11" fmla="*/ 27432 h 27432"/>
              <a:gd name="csX12" fmla="*/ 1965046 w 4480560"/>
              <a:gd name="csY12" fmla="*/ 27432 h 27432"/>
              <a:gd name="csX13" fmla="*/ 1459382 w 4480560"/>
              <a:gd name="csY13" fmla="*/ 27432 h 27432"/>
              <a:gd name="csX14" fmla="*/ 774497 w 4480560"/>
              <a:gd name="csY14" fmla="*/ 27432 h 27432"/>
              <a:gd name="csX15" fmla="*/ 0 w 4480560"/>
              <a:gd name="csY15" fmla="*/ 27432 h 27432"/>
              <a:gd name="csX16" fmla="*/ 0 w 4480560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41275" cap="rnd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DD426-7011-1B67-9E18-9BA46196D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8595" y="552091"/>
            <a:ext cx="6052158" cy="5431536"/>
          </a:xfrm>
        </p:spPr>
        <p:txBody>
          <a:bodyPr anchor="ctr">
            <a:normAutofit/>
          </a:bodyPr>
          <a:lstStyle/>
          <a:p>
            <a:r>
              <a:rPr lang="en-US"/>
              <a:t>• </a:t>
            </a:r>
            <a:r>
              <a:rPr lang="en-US" b="1"/>
              <a:t>30–50% reduction</a:t>
            </a:r>
            <a:r>
              <a:rPr lang="en-US"/>
              <a:t> in overall file processing time</a:t>
            </a:r>
            <a:br>
              <a:rPr lang="en-US"/>
            </a:br>
            <a:r>
              <a:rPr lang="en-US"/>
              <a:t>• Significant reduction in pending files and departmental backlogs</a:t>
            </a:r>
            <a:br>
              <a:rPr lang="en-US"/>
            </a:br>
            <a:r>
              <a:rPr lang="en-US"/>
              <a:t>• Improved workload balance across officers and departments</a:t>
            </a:r>
            <a:br>
              <a:rPr lang="en-US"/>
            </a:br>
            <a:r>
              <a:rPr lang="en-US"/>
              <a:t>• Higher transparency through real-time tracking and insights</a:t>
            </a:r>
            <a:br>
              <a:rPr lang="en-US"/>
            </a:br>
            <a:r>
              <a:rPr lang="en-US"/>
              <a:t>• Increased citizen trust due to faster and more predictable outcomes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2118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45DEEED-BE3A-4307-800A-45F555B51C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5C73706-35AD-4797-B796-D806B8FE5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5006297" cy="6858000"/>
          </a:xfrm>
          <a:custGeom>
            <a:avLst/>
            <a:gdLst>
              <a:gd name="connsiteX0" fmla="*/ 5006297 w 5006297"/>
              <a:gd name="connsiteY0" fmla="*/ 0 h 6858000"/>
              <a:gd name="connsiteX1" fmla="*/ 1229608 w 5006297"/>
              <a:gd name="connsiteY1" fmla="*/ 0 h 6858000"/>
              <a:gd name="connsiteX2" fmla="*/ 1128285 w 5006297"/>
              <a:gd name="connsiteY2" fmla="*/ 156518 h 6858000"/>
              <a:gd name="connsiteX3" fmla="*/ 768782 w 5006297"/>
              <a:gd name="connsiteY3" fmla="*/ 825746 h 6858000"/>
              <a:gd name="connsiteX4" fmla="*/ 743290 w 5006297"/>
              <a:gd name="connsiteY4" fmla="*/ 860183 h 6858000"/>
              <a:gd name="connsiteX5" fmla="*/ 787138 w 5006297"/>
              <a:gd name="connsiteY5" fmla="*/ 756243 h 6858000"/>
              <a:gd name="connsiteX6" fmla="*/ 980544 w 5006297"/>
              <a:gd name="connsiteY6" fmla="*/ 339016 h 6858000"/>
              <a:gd name="connsiteX7" fmla="*/ 1161966 w 5006297"/>
              <a:gd name="connsiteY7" fmla="*/ 0 h 6858000"/>
              <a:gd name="connsiteX8" fmla="*/ 1104491 w 5006297"/>
              <a:gd name="connsiteY8" fmla="*/ 0 h 6858000"/>
              <a:gd name="connsiteX9" fmla="*/ 993044 w 5006297"/>
              <a:gd name="connsiteY9" fmla="*/ 204247 h 6858000"/>
              <a:gd name="connsiteX10" fmla="*/ 494731 w 5006297"/>
              <a:gd name="connsiteY10" fmla="*/ 1375322 h 6858000"/>
              <a:gd name="connsiteX11" fmla="*/ 46559 w 5006297"/>
              <a:gd name="connsiteY11" fmla="*/ 3329787 h 6858000"/>
              <a:gd name="connsiteX12" fmla="*/ 12272 w 5006297"/>
              <a:gd name="connsiteY12" fmla="*/ 4352595 h 6858000"/>
              <a:gd name="connsiteX13" fmla="*/ 171094 w 5006297"/>
              <a:gd name="connsiteY13" fmla="*/ 5544543 h 6858000"/>
              <a:gd name="connsiteX14" fmla="*/ 538125 w 5006297"/>
              <a:gd name="connsiteY14" fmla="*/ 6816123 h 6858000"/>
              <a:gd name="connsiteX15" fmla="*/ 555724 w 5006297"/>
              <a:gd name="connsiteY15" fmla="*/ 6858000 h 6858000"/>
              <a:gd name="connsiteX16" fmla="*/ 608303 w 5006297"/>
              <a:gd name="connsiteY16" fmla="*/ 6858000 h 6858000"/>
              <a:gd name="connsiteX17" fmla="*/ 596366 w 5006297"/>
              <a:gd name="connsiteY17" fmla="*/ 6829337 h 6858000"/>
              <a:gd name="connsiteX18" fmla="*/ 364843 w 5006297"/>
              <a:gd name="connsiteY18" fmla="*/ 6132604 h 6858000"/>
              <a:gd name="connsiteX19" fmla="*/ 213412 w 5006297"/>
              <a:gd name="connsiteY19" fmla="*/ 5505676 h 6858000"/>
              <a:gd name="connsiteX20" fmla="*/ 211628 w 5006297"/>
              <a:gd name="connsiteY20" fmla="*/ 5472254 h 6858000"/>
              <a:gd name="connsiteX21" fmla="*/ 311945 w 5006297"/>
              <a:gd name="connsiteY21" fmla="*/ 5821167 h 6858000"/>
              <a:gd name="connsiteX22" fmla="*/ 623960 w 5006297"/>
              <a:gd name="connsiteY22" fmla="*/ 6658826 h 6858000"/>
              <a:gd name="connsiteX23" fmla="*/ 717350 w 5006297"/>
              <a:gd name="connsiteY23" fmla="*/ 6858000 h 6858000"/>
              <a:gd name="connsiteX24" fmla="*/ 5006297 w 5006297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006297" h="6858000">
                <a:moveTo>
                  <a:pt x="5006297" y="0"/>
                </a:moveTo>
                <a:lnTo>
                  <a:pt x="1229608" y="0"/>
                </a:lnTo>
                <a:lnTo>
                  <a:pt x="1128285" y="156518"/>
                </a:lnTo>
                <a:cubicBezTo>
                  <a:pt x="996915" y="372642"/>
                  <a:pt x="877575" y="596029"/>
                  <a:pt x="768782" y="825746"/>
                </a:cubicBezTo>
                <a:cubicBezTo>
                  <a:pt x="763429" y="839224"/>
                  <a:pt x="754646" y="851089"/>
                  <a:pt x="743290" y="860183"/>
                </a:cubicBezTo>
                <a:cubicBezTo>
                  <a:pt x="757948" y="825621"/>
                  <a:pt x="772224" y="790805"/>
                  <a:pt x="787138" y="756243"/>
                </a:cubicBezTo>
                <a:cubicBezTo>
                  <a:pt x="848067" y="615114"/>
                  <a:pt x="912406" y="475964"/>
                  <a:pt x="980544" y="339016"/>
                </a:cubicBezTo>
                <a:lnTo>
                  <a:pt x="1161966" y="0"/>
                </a:lnTo>
                <a:lnTo>
                  <a:pt x="1104491" y="0"/>
                </a:lnTo>
                <a:lnTo>
                  <a:pt x="993044" y="204247"/>
                </a:lnTo>
                <a:cubicBezTo>
                  <a:pt x="798291" y="579761"/>
                  <a:pt x="634561" y="971401"/>
                  <a:pt x="494731" y="1375322"/>
                </a:cubicBezTo>
                <a:cubicBezTo>
                  <a:pt x="277072" y="2009491"/>
                  <a:pt x="126862" y="2664550"/>
                  <a:pt x="46559" y="3329787"/>
                </a:cubicBezTo>
                <a:cubicBezTo>
                  <a:pt x="4496" y="3670216"/>
                  <a:pt x="-14242" y="4010141"/>
                  <a:pt x="12272" y="4352595"/>
                </a:cubicBezTo>
                <a:cubicBezTo>
                  <a:pt x="43627" y="4752907"/>
                  <a:pt x="90918" y="5150814"/>
                  <a:pt x="171094" y="5544543"/>
                </a:cubicBezTo>
                <a:cubicBezTo>
                  <a:pt x="259524" y="5979227"/>
                  <a:pt x="379573" y="6403657"/>
                  <a:pt x="538125" y="6816123"/>
                </a:cubicBezTo>
                <a:lnTo>
                  <a:pt x="555724" y="6858000"/>
                </a:lnTo>
                <a:lnTo>
                  <a:pt x="608303" y="6858000"/>
                </a:lnTo>
                <a:lnTo>
                  <a:pt x="596366" y="6829337"/>
                </a:lnTo>
                <a:cubicBezTo>
                  <a:pt x="508696" y="6602484"/>
                  <a:pt x="431985" y="6369981"/>
                  <a:pt x="364843" y="6132604"/>
                </a:cubicBezTo>
                <a:cubicBezTo>
                  <a:pt x="306463" y="5925865"/>
                  <a:pt x="263378" y="5714822"/>
                  <a:pt x="213412" y="5505676"/>
                </a:cubicBezTo>
                <a:cubicBezTo>
                  <a:pt x="212231" y="5494574"/>
                  <a:pt x="211637" y="5483421"/>
                  <a:pt x="211628" y="5472254"/>
                </a:cubicBezTo>
                <a:cubicBezTo>
                  <a:pt x="248210" y="5599108"/>
                  <a:pt x="277401" y="5710897"/>
                  <a:pt x="311945" y="5821167"/>
                </a:cubicBezTo>
                <a:cubicBezTo>
                  <a:pt x="401999" y="6108329"/>
                  <a:pt x="505868" y="6387643"/>
                  <a:pt x="623960" y="6658826"/>
                </a:cubicBezTo>
                <a:lnTo>
                  <a:pt x="717350" y="6858000"/>
                </a:lnTo>
                <a:lnTo>
                  <a:pt x="5006297" y="6858000"/>
                </a:lnTo>
                <a:close/>
              </a:path>
            </a:pathLst>
          </a:custGeom>
          <a:solidFill>
            <a:schemeClr val="accent1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68AE68-9992-7ABE-6843-9C45F472F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644652"/>
            <a:ext cx="3182112" cy="5568696"/>
          </a:xfrm>
        </p:spPr>
        <p:txBody>
          <a:bodyPr>
            <a:normAutofit/>
          </a:bodyPr>
          <a:lstStyle/>
          <a:p>
            <a:r>
              <a:rPr lang="en-IN" sz="4600">
                <a:solidFill>
                  <a:srgbClr val="FFFFFF"/>
                </a:solidFill>
              </a:rPr>
              <a:t>Scalability &amp; Future 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161B8-0EAB-0D22-EFA1-F9B6E4FD96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4350" y="644652"/>
            <a:ext cx="5856401" cy="5568696"/>
          </a:xfrm>
        </p:spPr>
        <p:txBody>
          <a:bodyPr anchor="ctr">
            <a:normAutofit/>
          </a:bodyPr>
          <a:lstStyle/>
          <a:p>
            <a:r>
              <a:rPr lang="en-US" dirty="0"/>
              <a:t>• Initial deployment begins at the </a:t>
            </a:r>
            <a:r>
              <a:rPr lang="en-US" b="1" dirty="0"/>
              <a:t>district level</a:t>
            </a:r>
            <a:r>
              <a:rPr lang="en-US" dirty="0"/>
              <a:t> for controlled implementation</a:t>
            </a:r>
            <a:br>
              <a:rPr lang="en-US" dirty="0"/>
            </a:br>
            <a:r>
              <a:rPr lang="en-US" dirty="0"/>
              <a:t>• Gradual expansion to </a:t>
            </a:r>
            <a:r>
              <a:rPr lang="en-US" b="1" dirty="0"/>
              <a:t>state-level and national-scale</a:t>
            </a:r>
            <a:r>
              <a:rPr lang="en-US" dirty="0"/>
              <a:t> systems</a:t>
            </a:r>
            <a:br>
              <a:rPr lang="en-US" dirty="0"/>
            </a:br>
            <a:r>
              <a:rPr lang="en-US" dirty="0"/>
              <a:t>• AI models continuously learn and improve using real operational data</a:t>
            </a:r>
            <a:br>
              <a:rPr lang="en-US" dirty="0"/>
            </a:br>
            <a:r>
              <a:rPr lang="en-US" dirty="0"/>
              <a:t>• Aligns with </a:t>
            </a:r>
            <a:r>
              <a:rPr lang="en-US" b="1" dirty="0"/>
              <a:t>Digital India’s ₹14,903 crore transformation plan</a:t>
            </a:r>
            <a:br>
              <a:rPr lang="en-US" dirty="0"/>
            </a:br>
            <a:r>
              <a:rPr lang="en-US" dirty="0"/>
              <a:t>• Enables a scalable, efficient, and </a:t>
            </a:r>
            <a:r>
              <a:rPr lang="en-US" b="1" dirty="0"/>
              <a:t>future-ready governance system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9842311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yVTI">
  <a:themeElements>
    <a:clrScheme name="SketchyVTI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4650E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Custom 2">
      <a:majorFont>
        <a:latin typeface="Modern Love"/>
        <a:ea typeface=""/>
        <a:cs typeface=""/>
      </a:majorFont>
      <a:minorFont>
        <a:latin typeface="The Ha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yVTI" id="{A6D2C935-A6E4-4DD9-BCC5-5AE2504DB8EA}" vid="{F0754072-50B6-4C01-B911-67246C9F58D2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095ce37-154a-4ff2-9859-8485729424a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CB1998069F84409C6B720FF03D3621" ma:contentTypeVersion="6" ma:contentTypeDescription="Create a new document." ma:contentTypeScope="" ma:versionID="147fb682332b90e27065608bb579a168">
  <xsd:schema xmlns:xsd="http://www.w3.org/2001/XMLSchema" xmlns:xs="http://www.w3.org/2001/XMLSchema" xmlns:p="http://schemas.microsoft.com/office/2006/metadata/properties" xmlns:ns3="2095ce37-154a-4ff2-9859-8485729424a1" targetNamespace="http://schemas.microsoft.com/office/2006/metadata/properties" ma:root="true" ma:fieldsID="42f13e2901f6e464edcfa1f9e9b0a40d" ns3:_="">
    <xsd:import namespace="2095ce37-154a-4ff2-9859-8485729424a1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95ce37-154a-4ff2-9859-8485729424a1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3EFE483-7536-4D0B-BB21-04266F3090AF}">
  <ds:schemaRefs>
    <ds:schemaRef ds:uri="2095ce37-154a-4ff2-9859-8485729424a1"/>
    <ds:schemaRef ds:uri="http://purl.org/dc/elements/1.1/"/>
    <ds:schemaRef ds:uri="http://purl.org/dc/dcmitype/"/>
    <ds:schemaRef ds:uri="http://schemas.microsoft.com/office/infopath/2007/PartnerControls"/>
    <ds:schemaRef ds:uri="http://www.w3.org/XML/1998/namespace"/>
    <ds:schemaRef ds:uri="http://purl.org/dc/terms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A7881344-9F3D-4CE0-A589-216E8A46859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313C093-BC49-4AD0-B58E-006826F582A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095ce37-154a-4ff2-9859-8485729424a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494</Words>
  <Application>Microsoft Office PowerPoint</Application>
  <PresentationFormat>Widescreen</PresentationFormat>
  <Paragraphs>16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Modern Love</vt:lpstr>
      <vt:lpstr>The Hand</vt:lpstr>
      <vt:lpstr>SketchyVTI</vt:lpstr>
      <vt:lpstr>FlowGov AI  AI-Powered Workflow Optimization for Government File Processing</vt:lpstr>
      <vt:lpstr>The Problem: Delays in Government File Processing</vt:lpstr>
      <vt:lpstr>Why Current Systems Are Not Enough</vt:lpstr>
      <vt:lpstr>Our Solution: FlowGov AI</vt:lpstr>
      <vt:lpstr>System Workflow</vt:lpstr>
      <vt:lpstr>Technology &amp; AI Stack</vt:lpstr>
      <vt:lpstr>Impact &amp; Benefits</vt:lpstr>
      <vt:lpstr>Scalability &amp; Future Vision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 Garg</dc:creator>
  <cp:lastModifiedBy>Parth Garg</cp:lastModifiedBy>
  <cp:revision>2</cp:revision>
  <dcterms:created xsi:type="dcterms:W3CDTF">2026-01-29T18:13:05Z</dcterms:created>
  <dcterms:modified xsi:type="dcterms:W3CDTF">2026-02-08T08:50:42Z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0x01010054CB1998069F84409C6B720FF03D3621</vt:lpwstr>
  </property>
</Properties>
</file>